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17"/>
    <p:sldId id="267" r:id="rId18"/>
    <p:sldId id="268" r:id="rId19"/>
    <p:sldId id="269" r:id="rId20"/>
    <p:sldId id="270" r:id="rId21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210312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1920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AI-AUGMENTED SYSTEMS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AI-Augmented Systems Problem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two dualities — AI as a tool for doing engineering, and AI as a component the engineer must engineer.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SESSION PLAN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 &amp; Objectives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02920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agenda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Something a System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026664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25880" y="29992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Dualities of AI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02736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2296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25880" y="35753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Learned Components Are Different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178808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1513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Question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2296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325880" y="4727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implementor to systems engineer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5330952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82296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Studio, deliverables &amp; wrap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45352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6519672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you can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565392" y="242316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“AI-for-SE” from “SE-for-AI” and explain why both reshape the discipline.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Characterize an AI-augmented system and identify its non-classical properties (probabilistic behavior, opacity, distribution dependence).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candidate project system from your own discipline and frame it in these terms.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the problem to INCOSE / SEBoK framings of complexity and emergence.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AI raises the engineer's altitude — from implementor toward systems engineer — and why managing complexity becomes the core skill.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1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Something a System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is a set of interacting elements whose combined behavior exceeds what any element does alone — value and failure both live in the interactions.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Hierarchy, interfaces, and environment define the system boundary; drawing that boundary is the first engineering decision, not a formality.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Emergence is the reason systems engineering exists: properties like safety, throughput, and cost appear only at the whole-system level.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2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Dualities of AI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AI-for-SE: models that draft requirements, explore design spaces, predict schedules, and screen defects — the engineer's work, accelerated.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SE-for-AI: a learned model shipped inside the product is a component with a datasheet no one fully wrote — it must be specified, verified, and owned.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programs now face both at once, and confusing the two is the most common source of muddled AI strategy.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3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Learned Components Are Different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probabilistic: identical inputs and conditions can bound behavior only statistically, not by a closed-form guarantee.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distribution-dependent: performance is a claim about the data seen in training and test — leave that envelope and the claim is void.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opaque: internal structure rarely explains behavior, so evidence must come from external testing, monitoring, and argument.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4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Engineer's Question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function the system performs, someone must decide: human, classical algorithm, or learned model — and who holds authority over the result.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allocation decision recurs in every module of this course — requirements, architecture, V&amp;V, risk, management, certification.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not maximal automation; it is a defensible allocation you can verify, afford, and sign your name to.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AI LENS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Enters This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Tool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58952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stakeholder-need summaries, generating candidate concepts, mining lessons-learned databases for similar past systems.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Component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8096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perception, prediction, or advisory model inside the delivered product — behavior specified as an envelope, not a formula.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Residual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7240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system boundary, the project itself, and which functions are even candidates for automation.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every week: which mode is this — and what human role does it leave behind?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APPLICATIONS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the Disciplines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Package-delivery drone: onboard perception is a component; generative layout tools assist the design.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Biomedical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infusion pump with a dosing-advisory model — clinical safety rides on a statistical component.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 bridge whose anomaly detector turns strain data into maintenance calls.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warehouse fleet: routing optimization as tool, vision picking as embedded component.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STUDIO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In-Class Activity &amp; Discussion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577840" cy="4114800"/>
          </a:xfrm>
          <a:prstGeom prst="roundRect">
            <a:avLst>
              <a:gd name="adj" fmla="val 2000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39112"/>
            <a:ext cx="603504" cy="603504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189988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1122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activity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" y="2834640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formation studio: pick a candidate project system from your discipline. Identify one function you would hand to AI and one you would keep human — and defend both choices in two minutes.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1783080"/>
            <a:ext cx="5330952" cy="411480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9400" y="2039112"/>
            <a:ext cx="603504" cy="603504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189988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0920" y="211226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discussion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675120" y="288036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2"/>
          <p:cNvSpPr/>
          <p:nvPr/>
        </p:nvSpPr>
        <p:spPr>
          <a:xfrm>
            <a:off x="667512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251192" y="283464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properties of your discipline's systems make learned components attractive — and which make them frightening?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675120" y="429768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0" name="Text 15"/>
          <p:cNvSpPr/>
          <p:nvPr/>
        </p:nvSpPr>
        <p:spPr>
          <a:xfrm>
            <a:off x="66751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251192" y="425196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“the model works” an engineering statement? What would you need to add to make it one?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WRAP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162556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3042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56816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063240" y="1956816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 Hdbk ch.1–2; SEBoK “What is Systems Engineering?”, “Emergence”; NIST AI RMF (overview).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3319272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7240" y="3653028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794760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47288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63240" y="3447288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PS-1 released. Project teams formed; system proposals due.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809744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" y="5143500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285232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937760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3063240" y="4937760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— Systems Thinking &amp; Lifecycle Models. The Vee and ISO/IEC/IEEE 15288 lifecycle processes; iterative variants; how AI-in-the-loop workflows compress and stress the Vee.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SHIFT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Implementor to Systems Engineer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21" name="Picture 20" descr="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37360"/>
            <a:ext cx="3583709" cy="4434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17720" y="1810512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7233D"/>
                </a:solidFill>
                <a:latin typeface="Cambria"/>
              </a:rPr>
              <a:t>Directing AI is a promotion, not just a speed-up.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697480"/>
            <a:ext cx="6949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C2434"/>
                </a:solidFill>
                <a:latin typeface="Calibri"/>
              </a:rPr>
              <a:t>For most of engineering's history, most engineers were implementors: given a specification, they produced the artifact — the code, the RTL, the drawing, the analysis.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C2434"/>
                </a:solidFill>
                <a:latin typeface="Calibri"/>
              </a:rPr>
              <a:t>A model now drafts that artifact in seconds. What stays scarce is everything above it: deciding what to build, defining the interfaces, allocating each function, and proving the whole meets the need.</a:t>
            </a:r>
          </a:p>
          <a:p>
            <a:r>
              <a:rPr sz="1350" b="0">
                <a:solidFill>
                  <a:srgbClr val="17233D"/>
                </a:solidFill>
                <a:latin typeface="Calibri"/>
              </a:rPr>
              <a:t>That upper region is systems engineering. Using AI to generate work faster pushes every engineer, at least in part, into the systems engineer's role — and hands them its harder problem: managing the complexity that speed creates.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4572000"/>
            <a:ext cx="6949440" cy="1371600"/>
          </a:xfrm>
          <a:prstGeom prst="roundRect">
            <a:avLst/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146304"/>
          <a:lstStyle/>
          <a:p>
            <a:pPr algn="ctr"/>
            <a:r>
              <a:rPr sz="1350" b="1">
                <a:solidFill>
                  <a:srgbClr val="CC0035"/>
                </a:solidFill>
                <a:latin typeface="Cambria"/>
              </a:rPr>
              <a:t>Where this course lives.  </a:t>
            </a:r>
            <a:r>
              <a:rPr sz="1350">
                <a:solidFill>
                  <a:srgbClr val="1C2434"/>
                </a:solidFill>
                <a:latin typeface="Calibri"/>
              </a:rPr>
              <a:t>The weeks ahead are a guided tour of that upper region — requirements, architecture, verification, risk, and the human role that keeps it accountable.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NEW BOTTLENECK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Making Is Cheap, Managing Is the Job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Box 20"/>
          <p:cNvSpPr txBox="1"/>
          <p:nvPr/>
        </p:nvSpPr>
        <p:spPr>
          <a:xfrm>
            <a:off x="502920" y="151790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488"/>
                </a:solidFill>
                <a:latin typeface="Calibri"/>
              </a:rPr>
              <a:t>AI removes much of the cost of producing a part. That does not remove the work — it relocates it to where the difficulty now lives.</a:t>
            </a:r>
          </a:p>
        </p:txBody>
      </p:sp>
      <p:pic>
        <p:nvPicPr>
          <p:cNvPr id="22" name="Picture 21" descr="bottle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148840"/>
            <a:ext cx="10058400" cy="39073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COMPLEXITY TAX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Parts, Many More Interfaces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TextBox 20"/>
          <p:cNvSpPr txBox="1"/>
          <p:nvPr/>
        </p:nvSpPr>
        <p:spPr>
          <a:xfrm>
            <a:off x="502920" y="151790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488"/>
                </a:solidFill>
                <a:latin typeface="Calibri"/>
              </a:rPr>
              <a:t>Every part you add multiplies the interfaces someone must define, verify, and keep consistent. Volume of output buys a rising tax in complexity.</a:t>
            </a:r>
          </a:p>
        </p:txBody>
      </p:sp>
      <p:pic>
        <p:nvPicPr>
          <p:cNvPr id="22" name="Picture 21" descr="complex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2103120"/>
            <a:ext cx="9052560" cy="3899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SE CRAFT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Complexity Is the Systems Engineer's Craft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&amp; interfaces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system boundary and define how the parts connect, so independently generated pieces still fit together.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&amp; traceability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intent into verifiable requirements and trace each one to the parts and tests that satisfy it.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&amp; validation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by evidence that the whole meets the need — not merely that any single generated part looks right.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allocation &amp; risk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does what — human, classical code, or learned model — and manage the risk each choice creates.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29" name="Picture 28" descr="icon_bounda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pic>
        <p:nvPicPr>
          <p:cNvPr id="30" name="Picture 29" descr="icon_req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pic>
        <p:nvPicPr>
          <p:cNvPr id="31" name="Picture 30" descr="icon_vn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pic>
        <p:nvPicPr>
          <p:cNvPr id="32" name="Picture 31" descr="icon_allo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CATCH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Altitude, Same Accountability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altitude rises. You spend less time producing parts and more on intent, interfaces, integration, and proof — the whole-system view that used to belong to a few.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accountability. AI can draft the artifact, but it cannot hold the requirement, sign the review, or carry the consequence. That stays human.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if AI does the junior work, teams must deliberately build the judgment that senior systems engineers still need — a pipeline risk we return to in the human-systems module.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 — Week 1 — The AI-Augmented Systems Problem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2026-07-04T02:47:30Z</dcterms:created>
  <dcterms:modified xsi:type="dcterms:W3CDTF">2026-07-04T02:47:30Z</dcterms:modified>
</cp:coreProperties>
</file>