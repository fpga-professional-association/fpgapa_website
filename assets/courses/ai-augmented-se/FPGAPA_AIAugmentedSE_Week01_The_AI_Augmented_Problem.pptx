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17"/>
    <p:sldId id="267" r:id="rId18"/>
    <p:sldId id="268" r:id="rId19"/>
    <p:sldId id="269" r:id="rId20"/>
    <p:sldId id="270" r:id="rId21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3-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notesSlide" Target="../notesSlides/notesSlide8.xml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023360" cy="4023360"/>
          </a:xfrm>
          <a:prstGeom prst="ellipse">
            <a:avLst/>
          </a:prstGeom>
          <a:solidFill>
            <a:srgbClr val="2030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24160" y="4663440"/>
            <a:ext cx="3108960" cy="3108960"/>
          </a:xfrm>
          <a:prstGeom prst="ellipse">
            <a:avLst/>
          </a:prstGeom>
          <a:solidFill>
            <a:srgbClr val="20304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2103120"/>
            <a:ext cx="1554480" cy="155448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2491740"/>
            <a:ext cx="777240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697480" y="19202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  ·  AI-AUGMENTED SYSTEMS ENGINEERING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2697480" y="224028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2578608"/>
            <a:ext cx="9052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AI-Augmented Systems Problem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2697480" y="3977640"/>
            <a:ext cx="4754880" cy="0"/>
          </a:xfrm>
          <a:prstGeom prst="line">
            <a:avLst/>
          </a:prstGeom>
          <a:noFill/>
          <a:ln w="15875">
            <a:solidFill>
              <a:srgbClr val="3E5C8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97480" y="41148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5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Framing: two dualities — AI as a tool for doing engineering, and AI as a component the engineer must engineer.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E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SESSION PLAN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 &amp; Objectives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77240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agenda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2450592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24231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Something a System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3026664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2296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325880" y="29992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Dualities of AI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3602736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3602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325880" y="357530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Learned Components Are Different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178808"/>
            <a:ext cx="365760" cy="365760"/>
          </a:xfrm>
          <a:prstGeom prst="ellipse">
            <a:avLst/>
          </a:prstGeom>
          <a:solidFill>
            <a:srgbClr val="17233D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22960" y="4178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325880" y="41513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Engineer's Question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754880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822960" y="4754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325880" y="47274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implementor to systems engineer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822960" y="5330952"/>
            <a:ext cx="365760" cy="36576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822960" y="5330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325880" y="5303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Studio, deliverables &amp; wrap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245352" y="1737360"/>
            <a:ext cx="5440680" cy="4206240"/>
          </a:xfrm>
          <a:prstGeom prst="roundRect">
            <a:avLst>
              <a:gd name="adj" fmla="val 195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519672" y="19385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session, you can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565392" y="242316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“AI-for-SE” from “SE-for-AI” and explain why both reshape the discipline.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Characterize an AI-augmented system and identify its non-classical properties (probabilistic behavior, opacity, distribution dependence).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a candidate project system from your own discipline and frame it in these terms.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problem to INCOSE / SEBoK framings of complexity and emergence.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AI raises the engineer's altitude — from implementor toward systems engineer — and why managing complexity becomes the core skill.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1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Something a System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is a set of interacting elements whose combined behavior exceeds what any element does alone — value and failure both live in the interactions.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Hierarchy, interfaces, and environment define the system boundary; drawing that boundary is the first engineering decision, not a formality.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Emergence is the reason systems engineering exists: properties like safety, throughput, and cost appear only at the whole-system level.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2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Dualities of AI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AI-for-SE: models that draft requirements, explore design spaces, predict schedules, and screen defects — the engineer's work, accelerated.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SE-for-AI: a learned model shipped inside the product is a component with a datasheet no one fully wrote — it must be specified, verified, and owned.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programs now face both at once, and confusing the two is the most common source of muddled AI strategy.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3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Learned Components Are Different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58952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probabilistic: identical inputs and conditions can bound behavior only statistically, not by a closed-form guarantee.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22064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78096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8096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distribution-dependent: performance is a claim about the data seen in training and test — leave that envelope and the claim is void.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141208" y="1874520"/>
            <a:ext cx="3544824" cy="384048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397240" y="2112264"/>
            <a:ext cx="475488" cy="475488"/>
          </a:xfrm>
          <a:prstGeom prst="ellipse">
            <a:avLst/>
          </a:prstGeom>
          <a:solidFill>
            <a:srgbClr val="17233D"/>
          </a:solidFill>
          <a:ln/>
        </p:spPr>
      </p:sp>
      <p:sp>
        <p:nvSpPr>
          <p:cNvPr id="17" name="Text 14"/>
          <p:cNvSpPr/>
          <p:nvPr/>
        </p:nvSpPr>
        <p:spPr>
          <a:xfrm>
            <a:off x="8397240" y="2112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97240" y="2788920"/>
            <a:ext cx="30327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opaque: internal structure rarely explains behavior, so evidence must come from external testing, monitoring, and argument.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CONCEPT 4 OF 4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Engineer's Question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function the system performs, someone must decide: human, classical algorithm, or learned model — and who holds authority over the result.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allocation decision recurs in every module of this course — requirements, architecture, V&amp;V, risk, management, certification.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maximal automation; it is a defensible allocation you can verify, afford, and sign your name to.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AI LENS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AI Enters This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30552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" y="2272284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58952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Tool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58952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stakeholder-need summaries, generating candidate concepts, mining lessons-learned databases for similar past systems.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322064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8096" y="2130552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828" y="2272284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78096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Component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8096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perception, prediction, or advisory model inside the delivered product — behavior specified as an envelope, not a formula.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8141208" y="1874520"/>
            <a:ext cx="3544824" cy="3657600"/>
          </a:xfrm>
          <a:prstGeom prst="roundRect">
            <a:avLst>
              <a:gd name="adj" fmla="val 2322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97240" y="2130552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972" y="2272284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397240" y="2807208"/>
            <a:ext cx="3032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Human Residual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7240" y="3246120"/>
            <a:ext cx="30327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2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system boundary, the project itself, and which functions are even candidates for automation.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02920" y="58064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question, every week: which mode is this — and what human role does it leave behind?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APPLICATIONS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Across the Disciplines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Package-delivery drone: onboard perception is a component; generative layout tools assist the design.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Biomedical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infusion pump with a dosing-advisory model — clinical safety rides on a statistical component.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Civil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 bridge whose anomaly detector turns strain data into maintenance calls.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warehouse fleet: routing optimization as tool, vision picking as embedded component.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STUDIO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In-Class Activity &amp; Discussion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783080"/>
            <a:ext cx="5577840" cy="4114800"/>
          </a:xfrm>
          <a:prstGeom prst="roundRect">
            <a:avLst>
              <a:gd name="adj" fmla="val 2000"/>
            </a:avLst>
          </a:prstGeom>
          <a:solidFill>
            <a:srgbClr val="FCEEF1"/>
          </a:solidFill>
          <a:ln w="13970">
            <a:solidFill>
              <a:srgbClr val="CC0035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039112"/>
            <a:ext cx="603504" cy="603504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" y="2189988"/>
            <a:ext cx="301752" cy="30175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1122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activity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" y="2834640"/>
            <a:ext cx="49377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formation studio: pick a candidate project system from your discipline. Identify one function you would hand to AI and one you would keep human — and defend both choices in two minutes.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55080" y="1783080"/>
            <a:ext cx="5330952" cy="4114800"/>
          </a:xfrm>
          <a:prstGeom prst="roundRect">
            <a:avLst>
              <a:gd name="adj" fmla="val 2000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629400" y="2039112"/>
            <a:ext cx="603504" cy="603504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0276" y="2189988"/>
            <a:ext cx="301752" cy="3017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0920" y="211226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Seminar discussion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6675120" y="288036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17" name="Text 12"/>
          <p:cNvSpPr/>
          <p:nvPr/>
        </p:nvSpPr>
        <p:spPr>
          <a:xfrm>
            <a:off x="667512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Q1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7251192" y="283464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properties of your discipline's systems make learned components attractive — and which make them frightening?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675120" y="4297680"/>
            <a:ext cx="420624" cy="420624"/>
          </a:xfrm>
          <a:prstGeom prst="ellipse">
            <a:avLst/>
          </a:prstGeom>
          <a:solidFill>
            <a:srgbClr val="3E5C89"/>
          </a:solidFill>
          <a:ln/>
        </p:spPr>
      </p:sp>
      <p:sp>
        <p:nvSpPr>
          <p:cNvPr id="20" name="Text 15"/>
          <p:cNvSpPr/>
          <p:nvPr/>
        </p:nvSpPr>
        <p:spPr>
          <a:xfrm>
            <a:off x="667512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Q2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7251192" y="4251960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“the model works” an engineering statement? What would you need to add to make it one?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WRAP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Next Week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8288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162556"/>
            <a:ext cx="566928" cy="566928"/>
          </a:xfrm>
          <a:prstGeom prst="ellipse">
            <a:avLst/>
          </a:prstGeom>
          <a:solidFill>
            <a:srgbClr val="3E5C89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230428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956816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063240" y="1956816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INCOSE Hdbk ch.1–2; SEBoK “What is Systems Engineering?”, “Emergence”; NIST AI RMF (overview).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" y="3319272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CEEF1"/>
          </a:solidFill>
          <a:ln w="12700">
            <a:solidFill>
              <a:srgbClr val="CC0035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77240" y="3653028"/>
            <a:ext cx="566928" cy="566928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794760"/>
            <a:ext cx="283464" cy="28346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3447288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63240" y="3447288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PS-1 released. Project teams formed; system proposals due.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809744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77240" y="5143500"/>
            <a:ext cx="566928" cy="566928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5285232"/>
            <a:ext cx="283464" cy="2834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08760" y="4937760"/>
            <a:ext cx="1554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week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3063240" y="4937760"/>
            <a:ext cx="84124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— Systems Thinking &amp; Lifecycle Models. The Vee and ISO/IEC/IEEE 15288 lifecycle processes; iterative variants; how AI-in-the-loop workflows compress and stress the Vee.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SHIFT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Implementor to Systems Engineer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21" name="Picture 20" descr="lad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737360"/>
            <a:ext cx="3583709" cy="4434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617720" y="1810512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7233D"/>
                </a:solidFill>
                <a:latin typeface="Cambria"/>
              </a:rPr>
              <a:t>Directing AI is a promotion, not just a speed-up.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69748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C2434"/>
                </a:solidFill>
                <a:latin typeface="Calibri"/>
              </a:rPr>
              <a:t>For most of engineering's history, most engineers were implementors: given a specification, they produced the artifact — the code, the RTL, the drawing, the analysis.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C2434"/>
                </a:solidFill>
                <a:latin typeface="Calibri"/>
              </a:rPr>
              <a:t>A model now drafts that artifact in seconds. What stays scarce is everything above it: deciding what to build, defining the interfaces, allocating each function, and proving the whole meets the need.</a:t>
            </a:r>
          </a:p>
          <a:p>
            <a:r>
              <a:rPr sz="1350" b="0">
                <a:solidFill>
                  <a:srgbClr val="17233D"/>
                </a:solidFill>
                <a:latin typeface="Calibri"/>
              </a:rPr>
              <a:t>That upper region is systems engineering. Using AI to generate work faster pushes every engineer, at least in part, into the systems engineer's role — and hands them its harder problem: managing the complexity that speed creates.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4572000"/>
            <a:ext cx="6949440" cy="1371600"/>
          </a:xfrm>
          <a:prstGeom prst="roundRect">
            <a:avLst/>
          </a:prstGeom>
          <a:solidFill>
            <a:srgbClr val="EF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146304"/>
          <a:lstStyle/>
          <a:p>
            <a:pPr algn="ctr"/>
            <a:r>
              <a:rPr sz="1350" b="1">
                <a:solidFill>
                  <a:srgbClr val="CC0035"/>
                </a:solidFill>
                <a:latin typeface="Cambria"/>
              </a:rPr>
              <a:t>Where this course lives.  </a:t>
            </a:r>
            <a:r>
              <a:rPr sz="1350">
                <a:solidFill>
                  <a:srgbClr val="1C2434"/>
                </a:solidFill>
                <a:latin typeface="Calibri"/>
              </a:rPr>
              <a:t>The weeks ahead are a guided tour of that upper region — requirements, architecture, verification, risk, and the human role that keeps it accountable.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NEW BOTTLENECK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Making Is Cheap, Managing Is the Job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21" name="TextBox 20"/>
          <p:cNvSpPr txBox="1"/>
          <p:nvPr/>
        </p:nvSpPr>
        <p:spPr>
          <a:xfrm>
            <a:off x="502920" y="151790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488"/>
                </a:solidFill>
                <a:latin typeface="Calibri"/>
              </a:rPr>
              <a:t>AI removes much of the cost of producing a part. That does not remove the work — it relocates it to where the difficulty now lives.</a:t>
            </a:r>
          </a:p>
        </p:txBody>
      </p:sp>
      <p:pic>
        <p:nvPicPr>
          <p:cNvPr id="22" name="Picture 21" descr="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148840"/>
            <a:ext cx="10058400" cy="39073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COMPLEXITY TAX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Parts, Many More Interfaces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extBox 20"/>
          <p:cNvSpPr txBox="1"/>
          <p:nvPr/>
        </p:nvSpPr>
        <p:spPr>
          <a:xfrm>
            <a:off x="502920" y="1517904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488"/>
                </a:solidFill>
                <a:latin typeface="Calibri"/>
              </a:rPr>
              <a:t>Every part you add multiplies the interfaces someone must define, verify, and keep consistent. Volume of output buys a rising tax in complexity.</a:t>
            </a:r>
          </a:p>
        </p:txBody>
      </p:sp>
      <p:pic>
        <p:nvPicPr>
          <p:cNvPr id="22" name="Picture 21" descr="complex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2103120"/>
            <a:ext cx="9052560" cy="3899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SE CRAFT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Managing Complexity Is the Systems Engineer's Craft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58952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1554480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&amp; interfaces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554480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system boundary and define how the parts connect, so independently generated pieces still fit together.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77356" y="182880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6533388" y="210312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7328916" y="210312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&amp; traceability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7328916" y="252374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intent into verifiable requirements and trace each one to the parts and tests that satisfy it.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Shape 13"/>
          <p:cNvSpPr/>
          <p:nvPr/>
        </p:nvSpPr>
        <p:spPr>
          <a:xfrm>
            <a:off x="758952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0" name="Text 14"/>
          <p:cNvSpPr/>
          <p:nvPr/>
        </p:nvSpPr>
        <p:spPr>
          <a:xfrm>
            <a:off x="1554480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&amp; validation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554480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by evidence that the whole meets the need — not merely that any single generated part looks right.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277356" y="4069080"/>
            <a:ext cx="5408676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3" name="Shape 17"/>
          <p:cNvSpPr/>
          <p:nvPr/>
        </p:nvSpPr>
        <p:spPr>
          <a:xfrm>
            <a:off x="6533388" y="4343400"/>
            <a:ext cx="621792" cy="621792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Text 18"/>
          <p:cNvSpPr/>
          <p:nvPr/>
        </p:nvSpPr>
        <p:spPr>
          <a:xfrm>
            <a:off x="7328916" y="4343400"/>
            <a:ext cx="41285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C0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allocation &amp; risk</a:t>
            </a:r>
            <a:endParaRPr lang="en-US" sz="1450" dirty="0"/>
          </a:p>
        </p:txBody>
      </p:sp>
      <p:sp>
        <p:nvSpPr>
          <p:cNvPr id="26" name="Text 19"/>
          <p:cNvSpPr/>
          <p:nvPr/>
        </p:nvSpPr>
        <p:spPr>
          <a:xfrm>
            <a:off x="7328916" y="4764024"/>
            <a:ext cx="4082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who does what — human, classical code, or learned model — and manage the risk each choice creates.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29" name="Picture 28" descr="icon_bounda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" y="2258568"/>
            <a:ext cx="310896" cy="310896"/>
          </a:xfrm>
          <a:prstGeom prst="rect">
            <a:avLst/>
          </a:prstGeom>
        </p:spPr>
      </p:pic>
      <p:pic>
        <p:nvPicPr>
          <p:cNvPr id="30" name="Picture 29" descr="icon_req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2258568"/>
            <a:ext cx="310896" cy="310896"/>
          </a:xfrm>
          <a:prstGeom prst="rect">
            <a:avLst/>
          </a:prstGeom>
        </p:spPr>
      </p:pic>
      <p:pic>
        <p:nvPicPr>
          <p:cNvPr id="31" name="Picture 30" descr="icon_vnv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" y="4498848"/>
            <a:ext cx="310896" cy="310896"/>
          </a:xfrm>
          <a:prstGeom prst="rect">
            <a:avLst/>
          </a:prstGeom>
        </p:spPr>
      </p:pic>
      <p:pic>
        <p:nvPicPr>
          <p:cNvPr id="32" name="Picture 31" descr="icon_allo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88836" y="4498848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2920" y="457200"/>
            <a:ext cx="640080" cy="640080"/>
          </a:xfrm>
          <a:prstGeom prst="ellipse">
            <a:avLst/>
          </a:prstGeom>
          <a:solidFill>
            <a:srgbClr val="17233D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" y="610819"/>
            <a:ext cx="332842" cy="3328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2062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C00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THE CATCH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80160" y="65836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Altitude, Same Accountability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502920" y="1389888"/>
            <a:ext cx="11183112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02920" y="1783080"/>
            <a:ext cx="4892040" cy="4069080"/>
          </a:xfrm>
          <a:prstGeom prst="roundRect">
            <a:avLst>
              <a:gd name="adj" fmla="val 2247"/>
            </a:avLst>
          </a:prstGeom>
          <a:solidFill>
            <a:srgbClr val="17233D"/>
          </a:solidFill>
          <a:ln/>
          <a:effectLst>
            <a:outerShdw sx="100000" sy="100000" kx="0" ky="0" algn="bl" rotWithShape="0" blurRad="114300" dist="38100" dir="5400000">
              <a:srgbClr val="1A2A4F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rgbClr val="CC0035"/>
          </a:solidFill>
          <a:ln/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222885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2834640"/>
            <a:ext cx="41605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altitude rises. You spend less time producing parts and more on intent, interfaces, integration, and proof — the whole-system view that used to belong to a few.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5669280" y="178308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EFF3F9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5907024" y="200253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907024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537960" y="198424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accountability. AI can draft the artifact, but it cannot hold the requirement, sign the review, or carry the consequence. That stays human.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669280" y="3931920"/>
            <a:ext cx="6016752" cy="1920240"/>
          </a:xfrm>
          <a:prstGeom prst="roundRect">
            <a:avLst>
              <a:gd name="adj" fmla="val 4286"/>
            </a:avLst>
          </a:prstGeom>
          <a:solidFill>
            <a:srgbClr val="F6F8FC"/>
          </a:solidFill>
          <a:ln w="9525">
            <a:solidFill>
              <a:srgbClr val="D8DEE9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907024" y="4151376"/>
            <a:ext cx="457200" cy="457200"/>
          </a:xfrm>
          <a:prstGeom prst="ellipse">
            <a:avLst/>
          </a:prstGeom>
          <a:solidFill>
            <a:srgbClr val="3E5C89"/>
          </a:solidFill>
          <a:ln/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5907024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537960" y="4133088"/>
            <a:ext cx="48737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1C24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if AI does the junior work, teams must deliberately build the judgment that senior systems engineers still need — a pipeline risk we return to in the human-systems module.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5C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Professional Association</a:t>
            </a:r>
            <a:pPr algn="l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AI-Augmented Systems Engineering  ·  Week 1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155680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AI-Augmented Systems Engineering — Week 1 — The AI-Augmented Systems Problem</dc:title>
  <dc:subject>PptxGenJS Presentation</dc:subject>
  <dc:creator>FPGA Professional Association</dc:creator>
  <cp:lastModifiedBy>FPGA Professional Association</cp:lastModifiedBy>
  <cp:revision>1</cp:revision>
  <dcterms:created xsi:type="dcterms:W3CDTF">2026-07-04T02:47:30Z</dcterms:created>
  <dcterms:modified xsi:type="dcterms:W3CDTF">2026-07-04T02:47:30Z</dcterms:modified>
</cp:coreProperties>
</file>