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2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023360" cy="4023360"/>
          </a:xfrm>
          <a:prstGeom prst="ellipse">
            <a:avLst/>
          </a:prstGeom>
          <a:solidFill>
            <a:srgbClr val="20304F"/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4663440"/>
            <a:ext cx="3108960" cy="3108960"/>
          </a:xfrm>
          <a:prstGeom prst="ellipse">
            <a:avLst/>
          </a:prstGeom>
          <a:solidFill>
            <a:srgbClr val="20304F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2103120"/>
            <a:ext cx="1554480" cy="1554480"/>
          </a:xfrm>
          <a:prstGeom prst="ellipse">
            <a:avLst/>
          </a:prstGeom>
          <a:solidFill>
            <a:srgbClr val="CC0035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1580" y="2491740"/>
            <a:ext cx="777240" cy="7772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697480" y="1920240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F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  ·  AI-AUGMENTED SYSTEMS ENGINEERING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2697480" y="224028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E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OF 15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2651760" y="2578608"/>
            <a:ext cx="9052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Stakeholder Needs, ConOps &amp; Requirements Engineering</a:t>
            </a:r>
            <a:endParaRPr lang="en-US" sz="3200" dirty="0"/>
          </a:p>
        </p:txBody>
      </p:sp>
      <p:sp>
        <p:nvSpPr>
          <p:cNvPr id="9" name="Shape 6"/>
          <p:cNvSpPr/>
          <p:nvPr/>
        </p:nvSpPr>
        <p:spPr>
          <a:xfrm>
            <a:off x="2697480" y="3977640"/>
            <a:ext cx="4754880" cy="0"/>
          </a:xfrm>
          <a:prstGeom prst="line">
            <a:avLst/>
          </a:prstGeom>
          <a:noFill/>
          <a:ln w="15875">
            <a:solidFill>
              <a:srgbClr val="3E5C89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697480" y="4114800"/>
            <a:ext cx="8778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50" i="1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Elicitation, Concept of Operations, requirement derivation and traceability; verifiable requirements; specifying learned components.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E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8F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  ·  Week 3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SESSION PLAN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Today's Agenda &amp; Objectives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737360"/>
            <a:ext cx="5440680" cy="4206240"/>
          </a:xfrm>
          <a:prstGeom prst="roundRect">
            <a:avLst>
              <a:gd name="adj" fmla="val 1957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77240" y="19385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Session agenda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822960" y="2450592"/>
            <a:ext cx="365760" cy="365760"/>
          </a:xfrm>
          <a:prstGeom prst="ellipse">
            <a:avLst/>
          </a:prstGeom>
          <a:solidFill>
            <a:srgbClr val="17233D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2450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325880" y="24231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Needs to a ConOps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822960" y="3026664"/>
            <a:ext cx="365760" cy="365760"/>
          </a:xfrm>
          <a:prstGeom prst="ellipse">
            <a:avLst/>
          </a:prstGeom>
          <a:solidFill>
            <a:srgbClr val="17233D"/>
          </a:solidFill>
          <a:ln/>
        </p:spPr>
      </p:sp>
      <p:sp>
        <p:nvSpPr>
          <p:cNvPr id="13" name="Text 10"/>
          <p:cNvSpPr/>
          <p:nvPr/>
        </p:nvSpPr>
        <p:spPr>
          <a:xfrm>
            <a:off x="822960" y="3026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325880" y="2999232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a Requirement Good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822960" y="3602736"/>
            <a:ext cx="365760" cy="365760"/>
          </a:xfrm>
          <a:prstGeom prst="ellipse">
            <a:avLst/>
          </a:prstGeom>
          <a:solidFill>
            <a:srgbClr val="17233D"/>
          </a:solidFill>
          <a:ln/>
        </p:spPr>
      </p:sp>
      <p:sp>
        <p:nvSpPr>
          <p:cNvPr id="16" name="Text 13"/>
          <p:cNvSpPr/>
          <p:nvPr/>
        </p:nvSpPr>
        <p:spPr>
          <a:xfrm>
            <a:off x="822960" y="3602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325880" y="357530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Attributes Decide Architectures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822960" y="4178808"/>
            <a:ext cx="365760" cy="365760"/>
          </a:xfrm>
          <a:prstGeom prst="ellipse">
            <a:avLst/>
          </a:prstGeom>
          <a:solidFill>
            <a:srgbClr val="17233D"/>
          </a:solidFill>
          <a:ln/>
        </p:spPr>
      </p:sp>
      <p:sp>
        <p:nvSpPr>
          <p:cNvPr id="19" name="Text 16"/>
          <p:cNvSpPr/>
          <p:nvPr/>
        </p:nvSpPr>
        <p:spPr>
          <a:xfrm>
            <a:off x="822960" y="41788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325880" y="4151376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Specifying the Learned Component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822960" y="4754880"/>
            <a:ext cx="365760" cy="365760"/>
          </a:xfrm>
          <a:prstGeom prst="ellipse">
            <a:avLst/>
          </a:prstGeom>
          <a:solidFill>
            <a:srgbClr val="3E5C89"/>
          </a:solidFill>
          <a:ln/>
        </p:spPr>
      </p:sp>
      <p:sp>
        <p:nvSpPr>
          <p:cNvPr id="22" name="Text 19"/>
          <p:cNvSpPr/>
          <p:nvPr/>
        </p:nvSpPr>
        <p:spPr>
          <a:xfrm>
            <a:off x="822960" y="4754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1325880" y="472744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activity &amp; discussion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822960" y="5330952"/>
            <a:ext cx="365760" cy="365760"/>
          </a:xfrm>
          <a:prstGeom prst="ellipse">
            <a:avLst/>
          </a:prstGeom>
          <a:solidFill>
            <a:srgbClr val="3E5C89"/>
          </a:solidFill>
          <a:ln/>
        </p:spPr>
      </p:sp>
      <p:sp>
        <p:nvSpPr>
          <p:cNvPr id="25" name="Text 22"/>
          <p:cNvSpPr/>
          <p:nvPr/>
        </p:nvSpPr>
        <p:spPr>
          <a:xfrm>
            <a:off x="822960" y="5330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1325880" y="53035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Deliverables &amp; next week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6245352" y="1737360"/>
            <a:ext cx="5440680" cy="4206240"/>
          </a:xfrm>
          <a:prstGeom prst="roundRect">
            <a:avLst>
              <a:gd name="adj" fmla="val 1957"/>
            </a:avLst>
          </a:prstGeom>
          <a:solidFill>
            <a:srgbClr val="F6F8FC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28" name="Text 25"/>
          <p:cNvSpPr/>
          <p:nvPr/>
        </p:nvSpPr>
        <p:spPr>
          <a:xfrm>
            <a:off x="6519672" y="19385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By the end of this session, you can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6565392" y="2423160"/>
            <a:ext cx="48920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3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Elicit and document stakeholder needs and author a Concept of Operations (ConOps).</a:t>
            </a:r>
            <a:endParaRPr lang="en-US" sz="1250" dirty="0"/>
          </a:p>
          <a:p>
            <a:pPr marL="177800" indent="-177800">
              <a:lnSpc>
                <a:spcPct val="103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 verifiable functional and non-functional requirements with bidirectional traceability.</a:t>
            </a:r>
            <a:endParaRPr lang="en-US" sz="1250" dirty="0"/>
          </a:p>
          <a:p>
            <a:pPr marL="177800" indent="-177800">
              <a:lnSpc>
                <a:spcPct val="103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quality-attribute requirements for performance, safety, cost, and certifiability.</a:t>
            </a:r>
            <a:endParaRPr lang="en-US" sz="1250" dirty="0"/>
          </a:p>
          <a:p>
            <a:pPr marL="177800" indent="-177800">
              <a:lnSpc>
                <a:spcPct val="103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Specify a learned component via performance envelopes and an operational design domain (ODD).</a:t>
            </a:r>
            <a:endParaRPr lang="en-US" sz="1250" dirty="0"/>
          </a:p>
        </p:txBody>
      </p:sp>
      <p:sp>
        <p:nvSpPr>
          <p:cNvPr id="30" name="Text 27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  ·  Week 3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CONCEPT 1 OF 4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Needs to a ConOps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874520"/>
            <a:ext cx="3544824" cy="3840480"/>
          </a:xfrm>
          <a:prstGeom prst="roundRect">
            <a:avLst>
              <a:gd name="adj" fmla="val 2322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58952" y="2112264"/>
            <a:ext cx="475488" cy="475488"/>
          </a:xfrm>
          <a:prstGeom prst="ellipse">
            <a:avLst/>
          </a:prstGeom>
          <a:solidFill>
            <a:srgbClr val="17233D"/>
          </a:solidFill>
          <a:ln/>
        </p:spPr>
      </p:sp>
      <p:sp>
        <p:nvSpPr>
          <p:cNvPr id="9" name="Text 6"/>
          <p:cNvSpPr/>
          <p:nvPr/>
        </p:nvSpPr>
        <p:spPr>
          <a:xfrm>
            <a:off x="758952" y="21122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1.1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58952" y="2788920"/>
            <a:ext cx="30327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Stakeholders rarely state needs as requirements — they tell stories about missions, users, environments, and pain.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322064" y="1874520"/>
            <a:ext cx="3544824" cy="3840480"/>
          </a:xfrm>
          <a:prstGeom prst="roundRect">
            <a:avLst>
              <a:gd name="adj" fmla="val 2322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78096" y="2112264"/>
            <a:ext cx="475488" cy="475488"/>
          </a:xfrm>
          <a:prstGeom prst="ellipse">
            <a:avLst/>
          </a:prstGeom>
          <a:solidFill>
            <a:srgbClr val="17233D"/>
          </a:solidFill>
          <a:ln/>
        </p:spPr>
      </p:sp>
      <p:sp>
        <p:nvSpPr>
          <p:cNvPr id="13" name="Text 10"/>
          <p:cNvSpPr/>
          <p:nvPr/>
        </p:nvSpPr>
        <p:spPr>
          <a:xfrm>
            <a:off x="4578096" y="21122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1.2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4578096" y="2788920"/>
            <a:ext cx="30327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Concept of Operations captures those stories: scenarios, modes, users, environment, and success from the operator's chair.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8141208" y="1874520"/>
            <a:ext cx="3544824" cy="3840480"/>
          </a:xfrm>
          <a:prstGeom prst="roundRect">
            <a:avLst>
              <a:gd name="adj" fmla="val 2322"/>
            </a:avLst>
          </a:prstGeom>
          <a:solidFill>
            <a:srgbClr val="F6F8FC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397240" y="2112264"/>
            <a:ext cx="475488" cy="475488"/>
          </a:xfrm>
          <a:prstGeom prst="ellipse">
            <a:avLst/>
          </a:prstGeom>
          <a:solidFill>
            <a:srgbClr val="17233D"/>
          </a:solidFill>
          <a:ln/>
        </p:spPr>
      </p:sp>
      <p:sp>
        <p:nvSpPr>
          <p:cNvPr id="17" name="Text 14"/>
          <p:cNvSpPr/>
          <p:nvPr/>
        </p:nvSpPr>
        <p:spPr>
          <a:xfrm>
            <a:off x="8397240" y="21122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1.3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8397240" y="2788920"/>
            <a:ext cx="30327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ConOps is the validation reference: at the top of the Vee, the delivered system is judged against it, not against the spec.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  ·  Week 3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CONCEPT 2 OF 4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Makes a Requirement Good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783080"/>
            <a:ext cx="4892040" cy="4069080"/>
          </a:xfrm>
          <a:prstGeom prst="roundRect">
            <a:avLst>
              <a:gd name="adj" fmla="val 2247"/>
            </a:avLst>
          </a:prstGeom>
          <a:solidFill>
            <a:srgbClr val="17233D"/>
          </a:solidFill>
          <a:ln/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822960" y="2103120"/>
            <a:ext cx="502920" cy="502920"/>
          </a:xfrm>
          <a:prstGeom prst="ellipse">
            <a:avLst/>
          </a:prstGeom>
          <a:solidFill>
            <a:srgbClr val="CC0035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690" y="2228850"/>
            <a:ext cx="251460" cy="2514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68680" y="2834640"/>
            <a:ext cx="416052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Necessary, unambiguous, singular, feasible, and above all verifiable — if you cannot state its test, you have written a wish.</a:t>
            </a:r>
            <a:endParaRPr lang="en-US" sz="1650" dirty="0"/>
          </a:p>
        </p:txBody>
      </p:sp>
      <p:sp>
        <p:nvSpPr>
          <p:cNvPr id="11" name="Shape 7"/>
          <p:cNvSpPr/>
          <p:nvPr/>
        </p:nvSpPr>
        <p:spPr>
          <a:xfrm>
            <a:off x="5669280" y="1783080"/>
            <a:ext cx="6016752" cy="1920240"/>
          </a:xfrm>
          <a:prstGeom prst="roundRect">
            <a:avLst>
              <a:gd name="adj" fmla="val 4286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5907024" y="2002536"/>
            <a:ext cx="457200" cy="457200"/>
          </a:xfrm>
          <a:prstGeom prst="ellipse">
            <a:avLst/>
          </a:prstGeom>
          <a:solidFill>
            <a:srgbClr val="3E5C89"/>
          </a:solidFill>
          <a:ln/>
        </p:spPr>
      </p:sp>
      <p:sp>
        <p:nvSpPr>
          <p:cNvPr id="13" name="Text 9"/>
          <p:cNvSpPr/>
          <p:nvPr/>
        </p:nvSpPr>
        <p:spPr>
          <a:xfrm>
            <a:off x="5907024" y="2002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2.2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6537960" y="1984248"/>
            <a:ext cx="487375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“Shall” statements carry contractual weight; rationale fields carry the why that survives staff turnover.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5669280" y="3931920"/>
            <a:ext cx="6016752" cy="1920240"/>
          </a:xfrm>
          <a:prstGeom prst="roundRect">
            <a:avLst>
              <a:gd name="adj" fmla="val 4286"/>
            </a:avLst>
          </a:prstGeom>
          <a:solidFill>
            <a:srgbClr val="F6F8FC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5907024" y="4151376"/>
            <a:ext cx="457200" cy="457200"/>
          </a:xfrm>
          <a:prstGeom prst="ellipse">
            <a:avLst/>
          </a:prstGeom>
          <a:solidFill>
            <a:srgbClr val="3E5C89"/>
          </a:solidFill>
          <a:ln/>
        </p:spPr>
      </p:sp>
      <p:sp>
        <p:nvSpPr>
          <p:cNvPr id="17" name="Text 13"/>
          <p:cNvSpPr/>
          <p:nvPr/>
        </p:nvSpPr>
        <p:spPr>
          <a:xfrm>
            <a:off x="5907024" y="4151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2.3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6537960" y="4133088"/>
            <a:ext cx="487375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Bidirectional traceability — need ↔ requirement ↔ design ↔ test — is what turns a pile of statements into an auditable argument.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  ·  Week 3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CONCEPT 3 OF 4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Quality Attributes Decide Architectures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874520"/>
            <a:ext cx="3544824" cy="3840480"/>
          </a:xfrm>
          <a:prstGeom prst="roundRect">
            <a:avLst>
              <a:gd name="adj" fmla="val 2322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58952" y="2112264"/>
            <a:ext cx="475488" cy="475488"/>
          </a:xfrm>
          <a:prstGeom prst="ellipse">
            <a:avLst/>
          </a:prstGeom>
          <a:solidFill>
            <a:srgbClr val="17233D"/>
          </a:solidFill>
          <a:ln/>
        </p:spPr>
      </p:sp>
      <p:sp>
        <p:nvSpPr>
          <p:cNvPr id="9" name="Text 6"/>
          <p:cNvSpPr/>
          <p:nvPr/>
        </p:nvSpPr>
        <p:spPr>
          <a:xfrm>
            <a:off x="758952" y="21122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3.1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58952" y="2788920"/>
            <a:ext cx="30327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requirements say what the system does; quality attributes (latency, reliability, weight, cost, certifiability) say how well — and they drive the architecture.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322064" y="1874520"/>
            <a:ext cx="3544824" cy="3840480"/>
          </a:xfrm>
          <a:prstGeom prst="roundRect">
            <a:avLst>
              <a:gd name="adj" fmla="val 2322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78096" y="2112264"/>
            <a:ext cx="475488" cy="475488"/>
          </a:xfrm>
          <a:prstGeom prst="ellipse">
            <a:avLst/>
          </a:prstGeom>
          <a:solidFill>
            <a:srgbClr val="17233D"/>
          </a:solidFill>
          <a:ln/>
        </p:spPr>
      </p:sp>
      <p:sp>
        <p:nvSpPr>
          <p:cNvPr id="13" name="Text 10"/>
          <p:cNvSpPr/>
          <p:nvPr/>
        </p:nvSpPr>
        <p:spPr>
          <a:xfrm>
            <a:off x="4578096" y="21122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3.2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4578096" y="2788920"/>
            <a:ext cx="30327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attributes conflict by nature; surfacing the conflicts early is a feature of good requirements work, not a failure of it.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8141208" y="1874520"/>
            <a:ext cx="3544824" cy="3840480"/>
          </a:xfrm>
          <a:prstGeom prst="roundRect">
            <a:avLst>
              <a:gd name="adj" fmla="val 2322"/>
            </a:avLst>
          </a:prstGeom>
          <a:solidFill>
            <a:srgbClr val="F6F8FC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397240" y="2112264"/>
            <a:ext cx="475488" cy="475488"/>
          </a:xfrm>
          <a:prstGeom prst="ellipse">
            <a:avLst/>
          </a:prstGeom>
          <a:solidFill>
            <a:srgbClr val="17233D"/>
          </a:solidFill>
          <a:ln/>
        </p:spPr>
      </p:sp>
      <p:sp>
        <p:nvSpPr>
          <p:cNvPr id="17" name="Text 14"/>
          <p:cNvSpPr/>
          <p:nvPr/>
        </p:nvSpPr>
        <p:spPr>
          <a:xfrm>
            <a:off x="8397240" y="21122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3.3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8397240" y="2788920"/>
            <a:ext cx="30327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quality attribute needs a measure, a threshold, and an objective — a number to verify and a number to aspire to.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  ·  Week 3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CONCEPT 4 OF 4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Specifying the Learned Component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783080"/>
            <a:ext cx="4892040" cy="4069080"/>
          </a:xfrm>
          <a:prstGeom prst="roundRect">
            <a:avLst>
              <a:gd name="adj" fmla="val 2247"/>
            </a:avLst>
          </a:prstGeom>
          <a:solidFill>
            <a:srgbClr val="17233D"/>
          </a:solidFill>
          <a:ln/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822960" y="2103120"/>
            <a:ext cx="502920" cy="502920"/>
          </a:xfrm>
          <a:prstGeom prst="ellipse">
            <a:avLst/>
          </a:prstGeom>
          <a:solidFill>
            <a:srgbClr val="CC0035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690" y="2228850"/>
            <a:ext cx="251460" cy="2514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68680" y="2834640"/>
            <a:ext cx="416052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State the performance envelope statistically: accuracy/error targets with confidence, at stated operating conditions.</a:t>
            </a:r>
            <a:endParaRPr lang="en-US" sz="1650" dirty="0"/>
          </a:p>
        </p:txBody>
      </p:sp>
      <p:sp>
        <p:nvSpPr>
          <p:cNvPr id="11" name="Shape 7"/>
          <p:cNvSpPr/>
          <p:nvPr/>
        </p:nvSpPr>
        <p:spPr>
          <a:xfrm>
            <a:off x="5669280" y="1783080"/>
            <a:ext cx="6016752" cy="1920240"/>
          </a:xfrm>
          <a:prstGeom prst="roundRect">
            <a:avLst>
              <a:gd name="adj" fmla="val 4286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5907024" y="2002536"/>
            <a:ext cx="457200" cy="457200"/>
          </a:xfrm>
          <a:prstGeom prst="ellipse">
            <a:avLst/>
          </a:prstGeom>
          <a:solidFill>
            <a:srgbClr val="3E5C89"/>
          </a:solidFill>
          <a:ln/>
        </p:spPr>
      </p:sp>
      <p:sp>
        <p:nvSpPr>
          <p:cNvPr id="13" name="Text 9"/>
          <p:cNvSpPr/>
          <p:nvPr/>
        </p:nvSpPr>
        <p:spPr>
          <a:xfrm>
            <a:off x="5907024" y="2002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4.2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6537960" y="1984248"/>
            <a:ext cx="487375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the operational design domain (ODD): the environments, inputs, and conditions inside which the claim holds — and required behavior outside it.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5669280" y="3931920"/>
            <a:ext cx="6016752" cy="1920240"/>
          </a:xfrm>
          <a:prstGeom prst="roundRect">
            <a:avLst>
              <a:gd name="adj" fmla="val 4286"/>
            </a:avLst>
          </a:prstGeom>
          <a:solidFill>
            <a:srgbClr val="F6F8FC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5907024" y="4151376"/>
            <a:ext cx="457200" cy="457200"/>
          </a:xfrm>
          <a:prstGeom prst="ellipse">
            <a:avLst/>
          </a:prstGeom>
          <a:solidFill>
            <a:srgbClr val="3E5C89"/>
          </a:solidFill>
          <a:ln/>
        </p:spPr>
      </p:sp>
      <p:sp>
        <p:nvSpPr>
          <p:cNvPr id="17" name="Text 13"/>
          <p:cNvSpPr/>
          <p:nvPr/>
        </p:nvSpPr>
        <p:spPr>
          <a:xfrm>
            <a:off x="5907024" y="4151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4.3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6537960" y="4133088"/>
            <a:ext cx="487375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Specify the data: provenance, coverage, and update policy are requirements on the component just as tolerances are on a machined part.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  ·  Week 3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THE AI LENS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AI Enters This Week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874520"/>
            <a:ext cx="3544824" cy="3657600"/>
          </a:xfrm>
          <a:prstGeom prst="roundRect">
            <a:avLst>
              <a:gd name="adj" fmla="val 2322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58952" y="2130552"/>
            <a:ext cx="566928" cy="566928"/>
          </a:xfrm>
          <a:prstGeom prst="ellipse">
            <a:avLst/>
          </a:prstGeom>
          <a:solidFill>
            <a:srgbClr val="3E5C89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684" y="2272284"/>
            <a:ext cx="283464" cy="28346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58952" y="2807208"/>
            <a:ext cx="3032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a Tool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758952" y="3246120"/>
            <a:ext cx="303276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7000"/>
              </a:lnSpc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draft candidate requirements from interview notes and check sets for ambiguity, duplication, and missing verification methods.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4322064" y="1874520"/>
            <a:ext cx="3544824" cy="3657600"/>
          </a:xfrm>
          <a:prstGeom prst="roundRect">
            <a:avLst>
              <a:gd name="adj" fmla="val 2322"/>
            </a:avLst>
          </a:prstGeom>
          <a:solidFill>
            <a:srgbClr val="F6F8FC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578096" y="2130552"/>
            <a:ext cx="566928" cy="566928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9828" y="2272284"/>
            <a:ext cx="283464" cy="28346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578096" y="2807208"/>
            <a:ext cx="3032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a Component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4578096" y="3246120"/>
            <a:ext cx="303276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7000"/>
              </a:lnSpc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learned component gets its own requirement set: envelope, ODD, fallback behavior, monitoring, and retraining policy.</a:t>
            </a:r>
            <a:endParaRPr lang="en-US" sz="1250" dirty="0"/>
          </a:p>
        </p:txBody>
      </p:sp>
      <p:sp>
        <p:nvSpPr>
          <p:cNvPr id="17" name="Shape 12"/>
          <p:cNvSpPr/>
          <p:nvPr/>
        </p:nvSpPr>
        <p:spPr>
          <a:xfrm>
            <a:off x="8141208" y="1874520"/>
            <a:ext cx="3544824" cy="3657600"/>
          </a:xfrm>
          <a:prstGeom prst="roundRect">
            <a:avLst>
              <a:gd name="adj" fmla="val 2322"/>
            </a:avLst>
          </a:prstGeom>
          <a:solidFill>
            <a:srgbClr val="FCEEF1"/>
          </a:solidFill>
          <a:ln w="13970">
            <a:solidFill>
              <a:srgbClr val="CC0035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8397240" y="2130552"/>
            <a:ext cx="566928" cy="566928"/>
          </a:xfrm>
          <a:prstGeom prst="ellipse">
            <a:avLst/>
          </a:prstGeom>
          <a:solidFill>
            <a:srgbClr val="CC0035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38972" y="2272284"/>
            <a:ext cx="283464" cy="283464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8397240" y="2807208"/>
            <a:ext cx="3032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Human Residual</a:t>
            </a:r>
            <a:endParaRPr lang="en-US" sz="1500" dirty="0"/>
          </a:p>
        </p:txBody>
      </p:sp>
      <p:sp>
        <p:nvSpPr>
          <p:cNvPr id="21" name="Text 15"/>
          <p:cNvSpPr/>
          <p:nvPr/>
        </p:nvSpPr>
        <p:spPr>
          <a:xfrm>
            <a:off x="8397240" y="3246120"/>
            <a:ext cx="303276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7000"/>
              </a:lnSpc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Deciding what the problem actually is. Authorship of intent — and refusal of a wrong requirement — cannot be delegated.</a:t>
            </a:r>
            <a:endParaRPr lang="en-US" sz="1250" dirty="0"/>
          </a:p>
        </p:txBody>
      </p:sp>
      <p:sp>
        <p:nvSpPr>
          <p:cNvPr id="22" name="Text 16"/>
          <p:cNvSpPr/>
          <p:nvPr/>
        </p:nvSpPr>
        <p:spPr>
          <a:xfrm>
            <a:off x="502920" y="580644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question, every week: which mode is this — and what human role does it leave behind?</a:t>
            </a:r>
            <a:endParaRPr lang="en-US" sz="1150" dirty="0"/>
          </a:p>
        </p:txBody>
      </p:sp>
      <p:sp>
        <p:nvSpPr>
          <p:cNvPr id="23" name="Text 17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  ·  Week 3</a:t>
            </a:r>
            <a:endParaRPr lang="en-US" sz="900" dirty="0"/>
          </a:p>
        </p:txBody>
      </p:sp>
      <p:sp>
        <p:nvSpPr>
          <p:cNvPr id="24" name="Text 18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APPLICATIONS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Across the Disciplines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828800"/>
            <a:ext cx="5408676" cy="1920240"/>
          </a:xfrm>
          <a:prstGeom prst="roundRect">
            <a:avLst>
              <a:gd name="adj" fmla="val 4286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58952" y="2103120"/>
            <a:ext cx="621792" cy="621792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258568"/>
            <a:ext cx="310896" cy="31089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54480" y="2103120"/>
            <a:ext cx="41285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C00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Biomedical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1554480" y="2523744"/>
            <a:ext cx="40827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Glucose monitor: the algorithm's ODD (sensor age, motion, temperature) is a first-class requirement.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277356" y="1828800"/>
            <a:ext cx="5408676" cy="1920240"/>
          </a:xfrm>
          <a:prstGeom prst="roundRect">
            <a:avLst>
              <a:gd name="adj" fmla="val 4286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533388" y="2103120"/>
            <a:ext cx="621792" cy="621792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8836" y="2258568"/>
            <a:ext cx="310896" cy="31089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328916" y="2103120"/>
            <a:ext cx="41285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C00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Aerospace</a:t>
            </a:r>
            <a:endParaRPr lang="en-US" sz="1450" dirty="0"/>
          </a:p>
        </p:txBody>
      </p:sp>
      <p:sp>
        <p:nvSpPr>
          <p:cNvPr id="16" name="Text 11"/>
          <p:cNvSpPr/>
          <p:nvPr/>
        </p:nvSpPr>
        <p:spPr>
          <a:xfrm>
            <a:off x="7328916" y="2523744"/>
            <a:ext cx="40827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 drone ConOps: airspace rules, weather minima, and abort scenarios shape every requirement below.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502920" y="4069080"/>
            <a:ext cx="5408676" cy="1920240"/>
          </a:xfrm>
          <a:prstGeom prst="roundRect">
            <a:avLst>
              <a:gd name="adj" fmla="val 4286"/>
            </a:avLst>
          </a:prstGeom>
          <a:solidFill>
            <a:srgbClr val="F6F8FC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758952" y="4343400"/>
            <a:ext cx="621792" cy="621792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498848"/>
            <a:ext cx="310896" cy="310896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554480" y="4343400"/>
            <a:ext cx="41285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C00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Mechanical</a:t>
            </a:r>
            <a:endParaRPr lang="en-US" sz="1450" dirty="0"/>
          </a:p>
        </p:txBody>
      </p:sp>
      <p:sp>
        <p:nvSpPr>
          <p:cNvPr id="21" name="Text 15"/>
          <p:cNvSpPr/>
          <p:nvPr/>
        </p:nvSpPr>
        <p:spPr>
          <a:xfrm>
            <a:off x="1554480" y="4764024"/>
            <a:ext cx="40827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HVAC: air-change rates, acoustic limits, and redundancy — quality attributes rule the design.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6277356" y="4069080"/>
            <a:ext cx="5408676" cy="1920240"/>
          </a:xfrm>
          <a:prstGeom prst="roundRect">
            <a:avLst>
              <a:gd name="adj" fmla="val 4286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6533388" y="4343400"/>
            <a:ext cx="621792" cy="621792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8836" y="4498848"/>
            <a:ext cx="310896" cy="310896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7328916" y="4343400"/>
            <a:ext cx="41285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C00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Industrial</a:t>
            </a:r>
            <a:endParaRPr lang="en-US" sz="1450" dirty="0"/>
          </a:p>
        </p:txBody>
      </p:sp>
      <p:sp>
        <p:nvSpPr>
          <p:cNvPr id="26" name="Text 19"/>
          <p:cNvSpPr/>
          <p:nvPr/>
        </p:nvSpPr>
        <p:spPr>
          <a:xfrm>
            <a:off x="7328916" y="4764024"/>
            <a:ext cx="40827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Packaging line: throughput and changeover-time requirements trade directly against capital cost.</a:t>
            </a:r>
            <a:endParaRPr lang="en-US" sz="1200" dirty="0"/>
          </a:p>
        </p:txBody>
      </p:sp>
      <p:sp>
        <p:nvSpPr>
          <p:cNvPr id="27" name="Text 20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  ·  Week 3</a:t>
            </a:r>
            <a:endParaRPr lang="en-US" sz="900" dirty="0"/>
          </a:p>
        </p:txBody>
      </p:sp>
      <p:sp>
        <p:nvSpPr>
          <p:cNvPr id="28" name="Text 21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STUDIO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In-Class Activity &amp; Discussion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783080"/>
            <a:ext cx="5577840" cy="4114800"/>
          </a:xfrm>
          <a:prstGeom prst="roundRect">
            <a:avLst>
              <a:gd name="adj" fmla="val 2000"/>
            </a:avLst>
          </a:prstGeom>
          <a:solidFill>
            <a:srgbClr val="FCEEF1"/>
          </a:solidFill>
          <a:ln w="13970">
            <a:solidFill>
              <a:srgbClr val="CC0035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2039112"/>
            <a:ext cx="603504" cy="603504"/>
          </a:xfrm>
          <a:prstGeom prst="ellipse">
            <a:avLst/>
          </a:prstGeom>
          <a:solidFill>
            <a:srgbClr val="CC0035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116" y="2189988"/>
            <a:ext cx="301752" cy="30175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08760" y="2112264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Studio activity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822960" y="2834640"/>
            <a:ext cx="493776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clinic: write five requirements for your project — including two quality attributes and one full learned-component spec (envelope + ODD). Trade with another team and attack verifiability.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6355080" y="1783080"/>
            <a:ext cx="5330952" cy="4114800"/>
          </a:xfrm>
          <a:prstGeom prst="roundRect">
            <a:avLst>
              <a:gd name="adj" fmla="val 2000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629400" y="2039112"/>
            <a:ext cx="603504" cy="603504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0276" y="2189988"/>
            <a:ext cx="301752" cy="30175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360920" y="2112264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Seminar discussion</a:t>
            </a:r>
            <a:endParaRPr lang="en-US" sz="1600" dirty="0"/>
          </a:p>
        </p:txBody>
      </p:sp>
      <p:sp>
        <p:nvSpPr>
          <p:cNvPr id="16" name="Shape 11"/>
          <p:cNvSpPr/>
          <p:nvPr/>
        </p:nvSpPr>
        <p:spPr>
          <a:xfrm>
            <a:off x="6675120" y="2880360"/>
            <a:ext cx="420624" cy="420624"/>
          </a:xfrm>
          <a:prstGeom prst="ellipse">
            <a:avLst/>
          </a:prstGeom>
          <a:solidFill>
            <a:srgbClr val="3E5C89"/>
          </a:solidFill>
          <a:ln/>
        </p:spPr>
      </p:sp>
      <p:sp>
        <p:nvSpPr>
          <p:cNvPr id="17" name="Text 12"/>
          <p:cNvSpPr/>
          <p:nvPr/>
        </p:nvSpPr>
        <p:spPr>
          <a:xfrm>
            <a:off x="6675120" y="2880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Q1</a:t>
            </a:r>
            <a:endParaRPr lang="en-US" sz="1150" dirty="0"/>
          </a:p>
        </p:txBody>
      </p:sp>
      <p:sp>
        <p:nvSpPr>
          <p:cNvPr id="18" name="Text 13"/>
          <p:cNvSpPr/>
          <p:nvPr/>
        </p:nvSpPr>
        <p:spPr>
          <a:xfrm>
            <a:off x="7251192" y="2834640"/>
            <a:ext cx="4160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ODD of a system in your field that officially doesn't have one?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6675120" y="4297680"/>
            <a:ext cx="420624" cy="420624"/>
          </a:xfrm>
          <a:prstGeom prst="ellipse">
            <a:avLst/>
          </a:prstGeom>
          <a:solidFill>
            <a:srgbClr val="3E5C89"/>
          </a:solidFill>
          <a:ln/>
        </p:spPr>
      </p:sp>
      <p:sp>
        <p:nvSpPr>
          <p:cNvPr id="20" name="Text 15"/>
          <p:cNvSpPr/>
          <p:nvPr/>
        </p:nvSpPr>
        <p:spPr>
          <a:xfrm>
            <a:off x="6675120" y="42976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Q2</a:t>
            </a:r>
            <a:endParaRPr lang="en-US" sz="1150" dirty="0"/>
          </a:p>
        </p:txBody>
      </p:sp>
      <p:sp>
        <p:nvSpPr>
          <p:cNvPr id="21" name="Text 16"/>
          <p:cNvSpPr/>
          <p:nvPr/>
        </p:nvSpPr>
        <p:spPr>
          <a:xfrm>
            <a:off x="7251192" y="4251960"/>
            <a:ext cx="4160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stakeholder asks for the wrong thing, what does a professional refusal look like?</a:t>
            </a:r>
            <a:endParaRPr lang="en-US" sz="1300" dirty="0"/>
          </a:p>
        </p:txBody>
      </p:sp>
      <p:sp>
        <p:nvSpPr>
          <p:cNvPr id="22" name="Text 17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  ·  Week 3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WRAP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 Next Week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828800"/>
            <a:ext cx="11183112" cy="1234440"/>
          </a:xfrm>
          <a:prstGeom prst="roundRect">
            <a:avLst>
              <a:gd name="adj" fmla="val 6667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2162556"/>
            <a:ext cx="566928" cy="566928"/>
          </a:xfrm>
          <a:prstGeom prst="ellipse">
            <a:avLst/>
          </a:prstGeom>
          <a:solidFill>
            <a:srgbClr val="3E5C89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972" y="2304288"/>
            <a:ext cx="283464" cy="28346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08760" y="1956816"/>
            <a:ext cx="155448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063240" y="1956816"/>
            <a:ext cx="841248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Kossiakoff ch.5–6; INCOSE Hdbk (stakeholder needs &amp; requirements); SEBoK requirements articles.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502920" y="3319272"/>
            <a:ext cx="11183112" cy="1234440"/>
          </a:xfrm>
          <a:prstGeom prst="roundRect">
            <a:avLst>
              <a:gd name="adj" fmla="val 6667"/>
            </a:avLst>
          </a:prstGeom>
          <a:solidFill>
            <a:srgbClr val="FCEEF1"/>
          </a:solidFill>
          <a:ln w="12700">
            <a:solidFill>
              <a:srgbClr val="CC0035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777240" y="3653028"/>
            <a:ext cx="566928" cy="566928"/>
          </a:xfrm>
          <a:prstGeom prst="ellipse">
            <a:avLst/>
          </a:prstGeom>
          <a:solidFill>
            <a:srgbClr val="CC0035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" y="3794760"/>
            <a:ext cx="283464" cy="28346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508760" y="3447288"/>
            <a:ext cx="155448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Due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3063240" y="3447288"/>
            <a:ext cx="841248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D1 due: ConOps + stakeholder &amp; system requirements. PS-1 due.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502920" y="4809744"/>
            <a:ext cx="11183112" cy="1234440"/>
          </a:xfrm>
          <a:prstGeom prst="roundRect">
            <a:avLst>
              <a:gd name="adj" fmla="val 6667"/>
            </a:avLst>
          </a:prstGeom>
          <a:solidFill>
            <a:srgbClr val="F6F8FC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777240" y="5143500"/>
            <a:ext cx="566928" cy="566928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972" y="5285232"/>
            <a:ext cx="283464" cy="283464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508760" y="4937760"/>
            <a:ext cx="155448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week</a:t>
            </a:r>
            <a:endParaRPr lang="en-US" sz="1500" dirty="0"/>
          </a:p>
        </p:txBody>
      </p:sp>
      <p:sp>
        <p:nvSpPr>
          <p:cNvPr id="21" name="Text 15"/>
          <p:cNvSpPr/>
          <p:nvPr/>
        </p:nvSpPr>
        <p:spPr>
          <a:xfrm>
            <a:off x="3063240" y="4937760"/>
            <a:ext cx="841248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— Architecture &amp; Function Allocation. System architecture; the central SE act of allocating function — among human, classical-algorithmic, and AI/ML elements.</a:t>
            </a:r>
            <a:endParaRPr lang="en-US" sz="1200" dirty="0"/>
          </a:p>
        </p:txBody>
      </p:sp>
      <p:sp>
        <p:nvSpPr>
          <p:cNvPr id="22" name="Text 16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  ·  Week 3</a:t>
            </a:r>
            <a:endParaRPr lang="en-US" sz="900" dirty="0"/>
          </a:p>
        </p:txBody>
      </p:sp>
      <p:sp>
        <p:nvSpPr>
          <p:cNvPr id="23" name="Text 17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AI-Augmented Systems Engineering — Week 3 — Stakeholder Needs, ConOps &amp; Requirements Engineering</dc:title>
  <dc:subject>PptxGenJS Presentation</dc:subject>
  <dc:creator>FPGA Professional Association</dc:creator>
  <cp:lastModifiedBy>FPGA Professional Association</cp:lastModifiedBy>
  <cp:revision>1</cp:revision>
  <dcterms:created xsi:type="dcterms:W3CDTF">2026-07-04T02:47:30Z</dcterms:created>
  <dcterms:modified xsi:type="dcterms:W3CDTF">2026-07-04T02:47:30Z</dcterms:modified>
</cp:coreProperties>
</file>