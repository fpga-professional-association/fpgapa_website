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203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663440"/>
            <a:ext cx="3108960" cy="3108960"/>
          </a:xfrm>
          <a:prstGeom prst="ellipse">
            <a:avLst/>
          </a:prstGeom>
          <a:solidFill>
            <a:srgbClr val="20304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03120"/>
            <a:ext cx="1554480" cy="155448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49174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97480" y="19202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  ·  AI-AUGMENTED SYSTEMS ENGINEERING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697480" y="22402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OF 15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651760" y="2578608"/>
            <a:ext cx="9052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Function Allocation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697480" y="3977640"/>
            <a:ext cx="4754880" cy="0"/>
          </a:xfrm>
          <a:prstGeom prst="line">
            <a:avLst/>
          </a:prstGeom>
          <a:noFill/>
          <a:ln w="15875">
            <a:solidFill>
              <a:srgbClr val="3E5C8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97480" y="411480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i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architecture; the central SE act of allocating function — among human, classical-algorithmic, and AI/ML elements.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EC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4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SESSION PLAN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 &amp; Objectives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373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agenda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450592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2423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vs. Physical Architecture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3026664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25880" y="29992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Allocation Frameworks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3602736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325880" y="35753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Modes of AI in a System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4178808"/>
            <a:ext cx="365760" cy="365760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25880" y="41513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Is a Design Decision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22960" y="4754880"/>
            <a:ext cx="365760" cy="36576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25880" y="47274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activity &amp; discussion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822960" y="5330952"/>
            <a:ext cx="365760" cy="36576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5330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325880" y="5303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next week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45352" y="173736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519672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session, you can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565392" y="242316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logical and physical architectures and define interfaces.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human–automation frameworks (Fitts' HABA-MABA, levels of automation, Bainbridge's ironies) to allocation decisions.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accelerator / explorer / pattern-recognizer heuristic to place AI within an architecture.</a:t>
            </a:r>
            <a:endParaRPr lang="en-US" sz="1250" dirty="0"/>
          </a:p>
          <a:p>
            <a:pPr marL="177800" indent="-1778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an allocation and make explicit the residual human role it creates.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CONCEPT 1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vs. Physical Architecture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architecture arranges functions and their interactions; physical architecture assigns them to components you can buy, build, or train.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2064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8096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8096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8096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are where systems fail: every allocation decision creates interfaces whose specification is as important as the functions themselves.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41208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97240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3972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97240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architecture localizes change — the modularity you choose now is the change-order bill you pay later.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CONCEPT 2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Allocation Frameworks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34640"/>
            <a:ext cx="4160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Fitts (1951): humans excel at judgment, improvisation, and pattern-in-context; machines at speed, repetition, and vigilance — a starting checklist, not a law.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5669280" y="178308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07024" y="200253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3" name="Text 9"/>
          <p:cNvSpPr/>
          <p:nvPr/>
        </p:nvSpPr>
        <p:spPr>
          <a:xfrm>
            <a:off x="590702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198424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Parasuraman–Sheridan–Wickens: automation is a dial (levels 1–10) applied per information-processing stage, not an on/off switch.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0" y="393192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07024" y="415137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3"/>
          <p:cNvSpPr/>
          <p:nvPr/>
        </p:nvSpPr>
        <p:spPr>
          <a:xfrm>
            <a:off x="590702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13308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Bainbridge's ironies: automate the routine and the human inherits the rare, hardest interventions — with degraded practice and situational awareness.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4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CONCEPT 3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Modes of AI in a System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Accelerator: does faster what engineers or operators already do — drafting, screening, routine analysis. Human remains originator and judge.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22064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8096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8096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8096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Explorer: searches option spaces too large to enumerate — layouts, schedules, parameters. Human frames the space and picks the point.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141208" y="1874520"/>
            <a:ext cx="3544824" cy="384048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97240" y="2112264"/>
            <a:ext cx="475488" cy="475488"/>
          </a:xfrm>
          <a:prstGeom prst="ellipse">
            <a:avLst/>
          </a:prstGeom>
          <a:solidFill>
            <a:srgbClr val="172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397240" y="2112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97240" y="2788920"/>
            <a:ext cx="3032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Pattern-recognizer: perceives signatures below human notice — defects, anomalies, trends. Human owns thresholds and response.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4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CONCEPT 4 OF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 Is a Design Decision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17233D"/>
          </a:solidFill>
          <a:ln/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2288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834640"/>
            <a:ext cx="4160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allocation to AI creates a residual human role — supervision, exception handling, final authority — that must itself be designed and staffed.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5669280" y="178308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07024" y="200253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3" name="Text 9"/>
          <p:cNvSpPr/>
          <p:nvPr/>
        </p:nvSpPr>
        <p:spPr>
          <a:xfrm>
            <a:off x="590702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37960" y="198424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allocations in a matrix: function × (human / classical / AI / hybrid), with rationale and the failure story for each.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669280" y="3931920"/>
            <a:ext cx="6016752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07024" y="4151376"/>
            <a:ext cx="457200" cy="457200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3"/>
          <p:cNvSpPr/>
          <p:nvPr/>
        </p:nvSpPr>
        <p:spPr>
          <a:xfrm>
            <a:off x="5907024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37960" y="4133088"/>
            <a:ext cx="487375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of an allocation is not elegance but defensibility: could you justify it to a review board after a bad day in the field?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4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THE AI LENS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Enters This Week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30552"/>
            <a:ext cx="566928" cy="566928"/>
          </a:xfrm>
          <a:prstGeom prst="ellipse">
            <a:avLst/>
          </a:prstGeom>
          <a:solidFill>
            <a:srgbClr val="3E5C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2272284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8952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Tool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58952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assistants propose decompositions and flag interface mismatches across documents.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22064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8096" y="2130552"/>
            <a:ext cx="566928" cy="566928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828" y="2272284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8096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 Component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78096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allocated learned function enters the architecture as a block with an envelope, a monitor, and a fallback path.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141208" y="1874520"/>
            <a:ext cx="3544824" cy="3657600"/>
          </a:xfrm>
          <a:prstGeom prst="roundRect">
            <a:avLst>
              <a:gd name="adj" fmla="val 2322"/>
            </a:avLst>
          </a:prstGeom>
          <a:solidFill>
            <a:srgbClr val="FCEEF1"/>
          </a:solidFill>
          <a:ln w="13970">
            <a:solidFill>
              <a:srgbClr val="CC0035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97240" y="2130552"/>
            <a:ext cx="566928" cy="566928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8972" y="2272284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97240" y="2807208"/>
            <a:ext cx="303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Human Residual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397240" y="3246120"/>
            <a:ext cx="3032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allocation itself — deciding the dial setting per function, and owning the residual role automation creates.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02920" y="5806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question, every week: which mode is this — and what human role does it leave behind?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4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APPLICATIONS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Disciplines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2880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" y="210312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5856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10312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Automotive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554480" y="252374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assistance: lane-keeping automated, liability and takeover design remain stubbornly human.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77356" y="182880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3388" y="210312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36" y="225856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28916" y="210312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Aerospace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328916" y="252374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planning: optimizer routes the aircraft; dispatcher sets constraints and owns the release.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06908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58952" y="434340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98848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34340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Biomedical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554480" y="476402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Radiology triage: model flags studies; the clinician's read is the diagnostic act of record.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277356" y="4069080"/>
            <a:ext cx="5408676" cy="1920240"/>
          </a:xfrm>
          <a:prstGeom prst="roundRect">
            <a:avLst>
              <a:gd name="adj" fmla="val 4286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33388" y="4343400"/>
            <a:ext cx="621792" cy="621792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836" y="4498848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28916" y="4343400"/>
            <a:ext cx="4128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C0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7328916" y="4764024"/>
            <a:ext cx="4082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maintenance: model raises the alert; a technician decides whether to stop the line.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4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STUDIO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In-Class Activity &amp; Discussion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5577840" cy="4114800"/>
          </a:xfrm>
          <a:prstGeom prst="roundRect">
            <a:avLst>
              <a:gd name="adj" fmla="val 2000"/>
            </a:avLst>
          </a:prstGeom>
          <a:solidFill>
            <a:srgbClr val="FCEEF1"/>
          </a:solidFill>
          <a:ln w="13970">
            <a:solidFill>
              <a:srgbClr val="CC0035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039112"/>
            <a:ext cx="603504" cy="603504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2189988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11226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Studio activity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22960" y="2834640"/>
            <a:ext cx="49377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matrix studio: for six functions of your project system, set an automation level per Parasuraman's stages, name the residual human role, and defend your two most aggressive calls.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355080" y="1783080"/>
            <a:ext cx="5330952" cy="411480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114300" dist="38100" dir="5400000">
              <a:srgbClr val="1A2A4F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29400" y="2039112"/>
            <a:ext cx="603504" cy="603504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76" y="2189988"/>
            <a:ext cx="301752" cy="3017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0920" y="21122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Seminar discussion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675120" y="2880360"/>
            <a:ext cx="420624" cy="420624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17" name="Text 12"/>
          <p:cNvSpPr/>
          <p:nvPr/>
        </p:nvSpPr>
        <p:spPr>
          <a:xfrm>
            <a:off x="667512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7251192" y="283464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your field has automation created exactly the irony Bainbridge predicted?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675120" y="4297680"/>
            <a:ext cx="420624" cy="420624"/>
          </a:xfrm>
          <a:prstGeom prst="ellipse">
            <a:avLst/>
          </a:prstGeom>
          <a:solidFill>
            <a:srgbClr val="3E5C89"/>
          </a:solidFill>
          <a:ln/>
        </p:spPr>
      </p:sp>
      <p:sp>
        <p:nvSpPr>
          <p:cNvPr id="20" name="Text 15"/>
          <p:cNvSpPr/>
          <p:nvPr/>
        </p:nvSpPr>
        <p:spPr>
          <a:xfrm>
            <a:off x="667512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251192" y="425196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function on your project would you refuse to automate at any accuracy level — and why?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4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39" y="610819"/>
            <a:ext cx="332842" cy="332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0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WRAP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Next Week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82880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EFF3F9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162556"/>
            <a:ext cx="566928" cy="566928"/>
          </a:xfrm>
          <a:prstGeom prst="ellipse">
            <a:avLst/>
          </a:prstGeom>
          <a:solidFill>
            <a:srgbClr val="3E5C89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230428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956816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063240" y="1956816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Parasuraman, Sheridan &amp; Wickens (2000); Bainbridge, “Ironies of Automation” (1983); Kossiakoff ch.7–8.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3319272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CEEF1"/>
          </a:solidFill>
          <a:ln w="12700">
            <a:solidFill>
              <a:srgbClr val="CC0035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653028"/>
            <a:ext cx="566928" cy="566928"/>
          </a:xfrm>
          <a:prstGeom prst="ellipse">
            <a:avLst/>
          </a:prstGeom>
          <a:solidFill>
            <a:srgbClr val="CC0035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379476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447288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063240" y="3447288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PS-2 released.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809744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6F8FC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7240" y="5143500"/>
            <a:ext cx="566928" cy="566928"/>
          </a:xfrm>
          <a:prstGeom prst="ellipse">
            <a:avLst/>
          </a:prstGeom>
          <a:solidFill>
            <a:srgbClr val="17233D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5285232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937760"/>
            <a:ext cx="1554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3063240" y="4937760"/>
            <a:ext cx="8412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Model-Based Systems Engineering &amp; Systems-as-Graphs. MBSE and SysML; the digital thread; representing learned components and their evidence; models as graphs.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5C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Professional Association</a:t>
            </a:r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AI-Augmented Systems Engineering  ·  Week 4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AI-Augmented Systems Engineering — Week 4 — Architecture &amp; Function Allocation</dc:title>
  <dc:subject>PptxGenJS Presentation</dc:subject>
  <dc:creator>FPGA Professional Association</dc:creator>
  <cp:lastModifiedBy>FPGA Professional Association</cp:lastModifiedBy>
  <cp:revision>1</cp:revision>
  <dcterms:created xsi:type="dcterms:W3CDTF">2026-07-04T02:47:30Z</dcterms:created>
  <dcterms:modified xsi:type="dcterms:W3CDTF">2026-07-04T02:47:30Z</dcterms:modified>
</cp:coreProperties>
</file>