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49174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19202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  ·  AI-AUGMENTED SYSTEMS ENGINEERING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OF 15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Model-Based Systems Engineering &amp; Systems-as-Graphs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MBSE and SysML; the digital thread; representing learned components and their evidence; models as graphs.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5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SESSION PLAN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 &amp; Objectives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37360"/>
            <a:ext cx="5440680" cy="4206240"/>
          </a:xfrm>
          <a:prstGeom prst="roundRect">
            <a:avLst>
              <a:gd name="adj" fmla="val 1957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1938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agenda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22960" y="2450592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325880" y="24231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Model-Based SE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22960" y="3026664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325880" y="29992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SysML Core Views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22960" y="3602736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325880" y="35753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the Learned Component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22960" y="4178808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325880" y="415137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Thread &amp; Digital Twin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4754880"/>
            <a:ext cx="365760" cy="36576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325880" y="47274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activity &amp; discussion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822960" y="5330952"/>
            <a:ext cx="365760" cy="36576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" y="5330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325880" y="5303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&amp; next week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245352" y="1737360"/>
            <a:ext cx="5440680" cy="4206240"/>
          </a:xfrm>
          <a:prstGeom prst="roundRect">
            <a:avLst>
              <a:gd name="adj" fmla="val 1957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6519672" y="1938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session, you can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565392" y="242316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core SysML views (requirement, block-definition, internal-block, activity) for an AI-augmented system.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 a learned component and attach its assurance evidence within the model.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digital-thread / digital-twin concepts and their systems value.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that MBSE models are graphs — setting up Week 7.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5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CONCEPT 1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Model-Based SE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drift apart; a model is one authoritative source from which views, documents, and analyses are generated.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22064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8096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4578096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8096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is machine-checkable in a model: an interface changed in one view is changed everywhere or flagged.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41208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97240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7" name="Text 14"/>
          <p:cNvSpPr/>
          <p:nvPr/>
        </p:nvSpPr>
        <p:spPr>
          <a:xfrm>
            <a:off x="8397240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97240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 scales with change volume — MBSE earns its cost on programs where requirements and designs move.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5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CONCEPT 2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SysML Core Views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4892040" cy="4069080"/>
          </a:xfrm>
          <a:prstGeom prst="roundRect">
            <a:avLst>
              <a:gd name="adj" fmla="val 2247"/>
            </a:avLst>
          </a:prstGeom>
          <a:solidFill>
            <a:srgbClr val="17233D"/>
          </a:solidFill>
          <a:ln/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222885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834640"/>
            <a:ext cx="4160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 diagrams tie shall-statements to the blocks that satisfy and the tests that verify them.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5669280" y="178308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907024" y="200253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3" name="Text 9"/>
          <p:cNvSpPr/>
          <p:nvPr/>
        </p:nvSpPr>
        <p:spPr>
          <a:xfrm>
            <a:off x="5907024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37960" y="198424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Block-definition and internal-block diagrams give structure: what exists, what it's made of, and what flows across which interface.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669280" y="393192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907024" y="415137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3"/>
          <p:cNvSpPr/>
          <p:nvPr/>
        </p:nvSpPr>
        <p:spPr>
          <a:xfrm>
            <a:off x="5907024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537960" y="413308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and state diagrams give behavior: how functions sequence, branch, and respond to modes and events.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5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CONCEPT 3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Modeling the Learned Component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it as a block whose value properties are its envelope: accuracy, latency, ODD bounds, confidence behavior.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22064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8096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4578096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8096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evidence as model elements — test reports, dataset descriptions, monitoring hooks — so assurance travels with structure.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41208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97240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7" name="Text 14"/>
          <p:cNvSpPr/>
          <p:nvPr/>
        </p:nvSpPr>
        <p:spPr>
          <a:xfrm>
            <a:off x="8397240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97240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the model artifact like any configuration item: training data + weights + code, under change control.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5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CONCEPT 4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Thread &amp; Digital Twin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4892040" cy="4069080"/>
          </a:xfrm>
          <a:prstGeom prst="roundRect">
            <a:avLst>
              <a:gd name="adj" fmla="val 2247"/>
            </a:avLst>
          </a:prstGeom>
          <a:solidFill>
            <a:srgbClr val="17233D"/>
          </a:solidFill>
          <a:ln/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222885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834640"/>
            <a:ext cx="4160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digital thread links requirement → design → part → test → field data into one traversable record across the lifecycle.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5669280" y="178308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907024" y="200253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3" name="Text 9"/>
          <p:cNvSpPr/>
          <p:nvPr/>
        </p:nvSpPr>
        <p:spPr>
          <a:xfrm>
            <a:off x="5907024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37960" y="198424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twin is the thread made live: a maintained model updated by operational data, used to predict and decide.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669280" y="393192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907024" y="415137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3"/>
          <p:cNvSpPr/>
          <p:nvPr/>
        </p:nvSpPr>
        <p:spPr>
          <a:xfrm>
            <a:off x="5907024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537960" y="413308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graphs of engineering knowledge — which is exactly why graph methods (Week 7) analyze them so naturally.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5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THE AI LENS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AI Enters This Week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3E5C89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Tool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58952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assistants draft SysML views from text, check consistency, and summarize model deltas for review boards.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Component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578096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twin often contains models itself — predictors of wear, load, or demand — each needing its own envelope and evidence.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FCEEF1"/>
          </a:solidFill>
          <a:ln w="1397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Residual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8397240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what to model at what fidelity: the abstraction choices that make a model useful rather than merely large.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806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every week: which mode is this — and what human role does it leave behind?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5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APPLICATIONS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the Disciplines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2880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0312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58568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210312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Aerospace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554480" y="252374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program: SysML model drives interface control documents and test procedures alike.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77356" y="182880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33388" y="210312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836" y="225856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28916" y="210312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Civil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7328916" y="252374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is civil engineering's digital thread — clash detection is model-checked interface control.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" y="406908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58952" y="434340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498848"/>
            <a:ext cx="310896" cy="31089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54480" y="434340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Mechanical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554480" y="476402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cell: internal-block diagrams make the safety-interlock interfaces explicit and reviewable.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6277356" y="406908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6533388" y="434340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8836" y="4498848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328916" y="434340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</a:t>
            </a:r>
            <a:endParaRPr lang="en-US" sz="1450" dirty="0"/>
          </a:p>
        </p:txBody>
      </p:sp>
      <p:sp>
        <p:nvSpPr>
          <p:cNvPr id="26" name="Text 19"/>
          <p:cNvSpPr/>
          <p:nvPr/>
        </p:nvSpPr>
        <p:spPr>
          <a:xfrm>
            <a:off x="7328916" y="476402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dependency models: the architecture graph that on-call engineers wish existed.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5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STUDIO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In-Class Activity &amp; Discussion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5577840" cy="4114800"/>
          </a:xfrm>
          <a:prstGeom prst="roundRect">
            <a:avLst>
              <a:gd name="adj" fmla="val 2000"/>
            </a:avLst>
          </a:prstGeom>
          <a:solidFill>
            <a:srgbClr val="FCEEF1"/>
          </a:solidFill>
          <a:ln w="1397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39112"/>
            <a:ext cx="603504" cy="603504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" y="2189988"/>
            <a:ext cx="301752" cy="30175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112264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activity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22960" y="2834640"/>
            <a:ext cx="49377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studio: sketch a block-definition diagram and one internal-block diagram for your project; mark the learned component's block and list the three evidence artifacts you would attach to it.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355080" y="1783080"/>
            <a:ext cx="5330952" cy="411480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629400" y="2039112"/>
            <a:ext cx="603504" cy="603504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276" y="2189988"/>
            <a:ext cx="301752" cy="30175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60920" y="2112264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Seminar discussion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6675120" y="2880360"/>
            <a:ext cx="420624" cy="420624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2"/>
          <p:cNvSpPr/>
          <p:nvPr/>
        </p:nvSpPr>
        <p:spPr>
          <a:xfrm>
            <a:off x="667512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7251192" y="2834640"/>
            <a:ext cx="4160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your discipline use today as its de-facto digital thread — and where does it break?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675120" y="4297680"/>
            <a:ext cx="420624" cy="420624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20" name="Text 15"/>
          <p:cNvSpPr/>
          <p:nvPr/>
        </p:nvSpPr>
        <p:spPr>
          <a:xfrm>
            <a:off x="6675120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7251192" y="4251960"/>
            <a:ext cx="4160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smallest model that would still catch your project's most likely interface error?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5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WRAP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Next Week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2880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162556"/>
            <a:ext cx="566928" cy="566928"/>
          </a:xfrm>
          <a:prstGeom prst="ellipse">
            <a:avLst/>
          </a:prstGeom>
          <a:solidFill>
            <a:srgbClr val="3E5C89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230428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1956816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063240" y="1956816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Friedenthal et al. (selected); INCOSE Hdbk (MBSE); SEBoK MBSE articles.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02920" y="3319272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77240" y="3653028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794760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447288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063240" y="3447288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reflection #2.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" y="4809744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77240" y="5143500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5285232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08760" y="4937760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week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3063240" y="4937760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— Design-Space Exploration &amp; Trade Studies. Multi-objective optimization; Pareto analysis; weighted trade studies and AHP; AI as explorer of large design spaces.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5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AI-Augmented Systems Engineering — Week 5 — Model-Based Systems Engineering &amp; Systems-as-Graphs</dc:title>
  <dc:subject>PptxGenJS Presentation</dc:subject>
  <dc:creator>FPGA Professional Association</dc:creator>
  <cp:lastModifiedBy>FPGA Professional Association</cp:lastModifiedBy>
  <cp:revision>1</cp:revision>
  <dcterms:created xsi:type="dcterms:W3CDTF">2026-07-04T02:47:30Z</dcterms:created>
  <dcterms:modified xsi:type="dcterms:W3CDTF">2026-07-04T02:47:30Z</dcterms:modified>
</cp:coreProperties>
</file>