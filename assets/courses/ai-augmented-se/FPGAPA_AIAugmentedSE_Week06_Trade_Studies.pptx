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203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663440"/>
            <a:ext cx="3108960" cy="3108960"/>
          </a:xfrm>
          <a:prstGeom prst="ellipse">
            <a:avLst/>
          </a:prstGeom>
          <a:solidFill>
            <a:srgbClr val="20304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03120"/>
            <a:ext cx="1554480" cy="155448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4917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97480" y="19202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  ·  AI-AUGMENTED SYSTEMS ENGINEERING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697480" y="22402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OF 15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651760" y="2578608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Design-Space Exploration &amp; Trade Studies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697480" y="3977640"/>
            <a:ext cx="4754880" cy="0"/>
          </a:xfrm>
          <a:prstGeom prst="line">
            <a:avLst/>
          </a:prstGeom>
          <a:noFill/>
          <a:ln w="15875">
            <a:solidFill>
              <a:srgbClr val="3E5C8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97480" y="411480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i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optimization; Pareto analysis; weighted trade studies and AHP; AI as explorer of large design spaces.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SESSION PLAN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 &amp; Objectives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373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agenda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450592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2423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Reality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3026664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25880" y="29992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Trade-Study Method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3602736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325880" y="35753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Design-Space Explorer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4178808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25880" y="41513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Operating Point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22960" y="4754880"/>
            <a:ext cx="365760" cy="36576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25880" y="47274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activity &amp; discussion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22960" y="5330952"/>
            <a:ext cx="365760" cy="36576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325880" y="5303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next week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45352" y="17373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519672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session, you can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565392" y="242316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a multi-objective design problem and characterize its Pareto frontier.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 weighted trade study and an Analytic Hierarchy Process comparison, with sensitivity analysis.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surrogate models, Bayesian optimization, and generative methods as design-space explorers.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and justify an operating point on the frontier against stakeholder value.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CONCEPT 1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Multi-Objective Reality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Single-objective optimization is a textbook fiction; real systems trade performance, cost, mass, schedule, and risk simultaneously.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2064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09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8096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is Pareto-optimal when no objective can improve without another worsening — the frontier is the set of defensible answers.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41208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7240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972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97240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off the frontier is dominated; everything on it is a values question, not a math question.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CONCEPT 2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Trade-Study Method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3464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criteria and measures first, alternatives second — reversing the order launders a pre-made decision.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07024" y="200253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3" name="Text 9"/>
          <p:cNvSpPr/>
          <p:nvPr/>
        </p:nvSpPr>
        <p:spPr>
          <a:xfrm>
            <a:off x="590702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198424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Weighted-sum scoring is transparent and fragile; AHP structures pairwise judgments and exposes inconsistency.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07024" y="415137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3"/>
          <p:cNvSpPr/>
          <p:nvPr/>
        </p:nvSpPr>
        <p:spPr>
          <a:xfrm>
            <a:off x="590702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13308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 is the integrity check: if the winner flips under small weight changes, report the flip, not just the winner.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6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CONCEPT 3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 Design-Space Explorer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models learn cheap approximations of expensive analyses, letting search visit thousands of candidates per hour.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2064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09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8096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optimization spends its expensive evaluations where uncertainty and promise are highest.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41208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7240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972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97240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methods propose configurations humans wouldn't sketch — widening the frontier, and the review burden with it.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CONCEPT 4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Operating Point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3464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frontier answers what is possible; stakeholder value answers what is preferred — no algorithm supplies the preference.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07024" y="200253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3" name="Text 9"/>
          <p:cNvSpPr/>
          <p:nvPr/>
        </p:nvSpPr>
        <p:spPr>
          <a:xfrm>
            <a:off x="590702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198424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choice as a decision record: alternatives, criteria, weights, sensitivity, and the rationale in plain language.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07024" y="415137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3"/>
          <p:cNvSpPr/>
          <p:nvPr/>
        </p:nvSpPr>
        <p:spPr>
          <a:xfrm>
            <a:off x="590702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13308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points when assumptions move: a frontier computed on last year's costs is last year's frontier.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6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THE AI LENS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Enters This Week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30552"/>
            <a:ext cx="566928" cy="566928"/>
          </a:xfrm>
          <a:prstGeom prst="ellipse">
            <a:avLst/>
          </a:prstGeom>
          <a:solidFill>
            <a:srgbClr val="3E5C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2272284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952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Tool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58952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Surrogates, Bayesian search, and generative design multiply how much of the space you can afford to see.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22064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8096" y="2130552"/>
            <a:ext cx="566928" cy="566928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828" y="2272284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8096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Component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8096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shipped product optimizes online (adaptive control, dynamic pricing of resources), its objective function is a requirement.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141208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FCEEF1"/>
          </a:solidFill>
          <a:ln w="13970">
            <a:solidFill>
              <a:srgbClr val="CC0035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97240" y="2130552"/>
            <a:ext cx="566928" cy="566928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972" y="2272284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97240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Residual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397240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objectives and constraints, auditing surrogate validity, and making the value call the frontier cannot make.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question, every week: which mode is this — and what human role does it leave behind?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6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APPLICATIONS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Disciplines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0312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5856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10312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Mechanical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554480" y="252374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exchanger: effectiveness vs. mass vs. cost — a three-way frontier every student can compute.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77356" y="182880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3388" y="210312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36" y="225856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28916" y="210312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Aerospace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328916" y="252374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wing structures: the optimizer's organic shapes still face the certification question.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06908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58952" y="434340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98848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34340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554480" y="476402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Microgrid sizing: storage vs. generation vs. resilience under uncertain demand.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277356" y="406908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33388" y="434340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836" y="4498848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28916" y="434340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Biomedical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328916" y="476402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Prosthetic design: weight, strength, and cost trade directly against patient outcomes.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6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STUDIO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In-Class Activity &amp; Discussion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5577840" cy="4114800"/>
          </a:xfrm>
          <a:prstGeom prst="roundRect">
            <a:avLst>
              <a:gd name="adj" fmla="val 2000"/>
            </a:avLst>
          </a:prstGeom>
          <a:solidFill>
            <a:srgbClr val="FCEEF1"/>
          </a:solidFill>
          <a:ln w="13970">
            <a:solidFill>
              <a:srgbClr val="CC0035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039112"/>
            <a:ext cx="603504" cy="603504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2189988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11226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 activity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2960" y="2834640"/>
            <a:ext cx="4937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lab: from a provided 40-alternative dataset (three objectives), identify the frontier, run a weighted study with sensitivity, and defend your operating point in one slide.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355080" y="1783080"/>
            <a:ext cx="5330952" cy="411480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29400" y="2039112"/>
            <a:ext cx="603504" cy="603504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76" y="2189988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0920" y="21122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Seminar discussion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675120" y="2880360"/>
            <a:ext cx="420624" cy="420624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2"/>
          <p:cNvSpPr/>
          <p:nvPr/>
        </p:nvSpPr>
        <p:spPr>
          <a:xfrm>
            <a:off x="667512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7251192" y="283464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has a “best design” in your field turned out to be someone's unexamined weighting?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675120" y="4297680"/>
            <a:ext cx="420624" cy="420624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0" name="Text 15"/>
          <p:cNvSpPr/>
          <p:nvPr/>
        </p:nvSpPr>
        <p:spPr>
          <a:xfrm>
            <a:off x="667512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251192" y="425196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a generative design no engineer can fully explain be allowed on the frontier at all?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6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WRAP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Next Week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162556"/>
            <a:ext cx="566928" cy="566928"/>
          </a:xfrm>
          <a:prstGeom prst="ellipse">
            <a:avLst/>
          </a:prstGeom>
          <a:solidFill>
            <a:srgbClr val="3E5C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230428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956816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063240" y="1956816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Kossiakoff ch.9 (trade studies); INCOSE Hdbk (decision management); SEBoK decision-analysis articles.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3319272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CEEF1"/>
          </a:solidFill>
          <a:ln w="12700">
            <a:solidFill>
              <a:srgbClr val="CC003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653028"/>
            <a:ext cx="566928" cy="566928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379476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447288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063240" y="3447288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PS-2 due. Project D2 due: architecture + function-allocation matrix.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809744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240" y="5143500"/>
            <a:ext cx="566928" cy="566928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528523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937760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3063240" y="4937760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— Graph-Theoretic Foundations for Systems Analysis. Systems as graphs; DSM and N-squared analysis; partitioning and clustering; critical-path and network methods; graph neural networks.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6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AI-Augmented Systems Engineering — Week 6 — Design-Space Exploration &amp; Trade Studies</dc:title>
  <dc:subject>PptxGenJS Presentation</dc:subject>
  <dc:creator>FPGA Professional Association</dc:creator>
  <cp:lastModifiedBy>FPGA Professional Association</cp:lastModifiedBy>
  <cp:revision>1</cp:revision>
  <dcterms:created xsi:type="dcterms:W3CDTF">2026-07-04T02:47:30Z</dcterms:created>
  <dcterms:modified xsi:type="dcterms:W3CDTF">2026-07-04T02:47:30Z</dcterms:modified>
</cp:coreProperties>
</file>