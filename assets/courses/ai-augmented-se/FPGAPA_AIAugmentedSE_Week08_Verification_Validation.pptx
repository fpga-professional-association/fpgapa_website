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2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023360" cy="4023360"/>
          </a:xfrm>
          <a:prstGeom prst="ellipse">
            <a:avLst/>
          </a:prstGeom>
          <a:solidFill>
            <a:srgbClr val="20304F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663440"/>
            <a:ext cx="3108960" cy="3108960"/>
          </a:xfrm>
          <a:prstGeom prst="ellipse">
            <a:avLst/>
          </a:prstGeom>
          <a:solidFill>
            <a:srgbClr val="20304F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03120"/>
            <a:ext cx="1554480" cy="155448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1580" y="2491740"/>
            <a:ext cx="777240" cy="7772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697480" y="192024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  ·  AI-AUGMENTED SYSTEMS ENGINEERING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2697480" y="224028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E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OF 15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2651760" y="2578608"/>
            <a:ext cx="9052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 &amp; Validation of Systems with Learned Components</a:t>
            </a:r>
            <a:endParaRPr lang="en-US" sz="3200" dirty="0"/>
          </a:p>
        </p:txBody>
      </p:sp>
      <p:sp>
        <p:nvSpPr>
          <p:cNvPr id="9" name="Shape 6"/>
          <p:cNvSpPr/>
          <p:nvPr/>
        </p:nvSpPr>
        <p:spPr>
          <a:xfrm>
            <a:off x="2697480" y="3977640"/>
            <a:ext cx="4754880" cy="0"/>
          </a:xfrm>
          <a:prstGeom prst="line">
            <a:avLst/>
          </a:prstGeom>
          <a:noFill/>
          <a:ln w="15875">
            <a:solidFill>
              <a:srgbClr val="3E5C8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697480" y="41148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i="1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V&amp;V planning; test design, coverage, and traceability; statistical testing of learned components; independence and assurance cases.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E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8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· SESSION PLAN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Agenda &amp; Objectives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737360"/>
            <a:ext cx="5440680" cy="4206240"/>
          </a:xfrm>
          <a:prstGeom prst="roundRect">
            <a:avLst>
              <a:gd name="adj" fmla="val 1957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19385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 agenda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22960" y="2450592"/>
            <a:ext cx="365760" cy="365760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2450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325880" y="24231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vs. Validation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22960" y="3026664"/>
            <a:ext cx="365760" cy="365760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3026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325880" y="299923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the Learned Component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822960" y="3602736"/>
            <a:ext cx="365760" cy="365760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16" name="Text 13"/>
          <p:cNvSpPr/>
          <p:nvPr/>
        </p:nvSpPr>
        <p:spPr>
          <a:xfrm>
            <a:off x="822960" y="3602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325880" y="35753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Shared-Blind-Spot Problem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822960" y="4178808"/>
            <a:ext cx="365760" cy="365760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19" name="Text 16"/>
          <p:cNvSpPr/>
          <p:nvPr/>
        </p:nvSpPr>
        <p:spPr>
          <a:xfrm>
            <a:off x="822960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325880" y="415137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Assurance Cases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822960" y="4754880"/>
            <a:ext cx="365760" cy="365760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22" name="Text 19"/>
          <p:cNvSpPr/>
          <p:nvPr/>
        </p:nvSpPr>
        <p:spPr>
          <a:xfrm>
            <a:off x="822960" y="4754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325880" y="472744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activity &amp; discussion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822960" y="5330952"/>
            <a:ext cx="365760" cy="365760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25" name="Text 22"/>
          <p:cNvSpPr/>
          <p:nvPr/>
        </p:nvSpPr>
        <p:spPr>
          <a:xfrm>
            <a:off x="822960" y="5330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325880" y="53035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 &amp; next week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6245352" y="1737360"/>
            <a:ext cx="5440680" cy="4206240"/>
          </a:xfrm>
          <a:prstGeom prst="roundRect">
            <a:avLst>
              <a:gd name="adj" fmla="val 1957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6519672" y="19385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the end of this session, you can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565392" y="2423160"/>
            <a:ext cx="4892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V&amp;V plan and a requirements-to-tests traceability matrix.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 verification, validation, and formal analysis, placing each appropriately.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statistical test programs for learned components across their ODD, with monitoring for the field.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shared-blind-spot problem and construct a claim–argument–evidence assurance fragment.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8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· CONCEPT 1 OF 4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 vs. Validation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874520"/>
            <a:ext cx="3544824" cy="38404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58952" y="2112264"/>
            <a:ext cx="475488" cy="475488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9" name="Text 6"/>
          <p:cNvSpPr/>
          <p:nvPr/>
        </p:nvSpPr>
        <p:spPr>
          <a:xfrm>
            <a:off x="758952" y="2112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58952" y="2788920"/>
            <a:ext cx="3032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checks the product against its specification; validation checks the specification against the need.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322064" y="1874520"/>
            <a:ext cx="3544824" cy="38404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78096" y="2112264"/>
            <a:ext cx="475488" cy="475488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13" name="Text 10"/>
          <p:cNvSpPr/>
          <p:nvPr/>
        </p:nvSpPr>
        <p:spPr>
          <a:xfrm>
            <a:off x="4578096" y="2112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578096" y="2788920"/>
            <a:ext cx="3032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can pass while the program fails — if the spec was wrong, verification faithfully confirms the wrong thing.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141208" y="1874520"/>
            <a:ext cx="3544824" cy="3840480"/>
          </a:xfrm>
          <a:prstGeom prst="roundRect">
            <a:avLst>
              <a:gd name="adj" fmla="val 2322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397240" y="2112264"/>
            <a:ext cx="475488" cy="475488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17" name="Text 14"/>
          <p:cNvSpPr/>
          <p:nvPr/>
        </p:nvSpPr>
        <p:spPr>
          <a:xfrm>
            <a:off x="8397240" y="2112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397240" y="2788920"/>
            <a:ext cx="3032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ladder: inspection, analysis, demonstration, test — chosen per requirement and recorded in the traceability matrix.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8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· CONCEPT 2 OF 4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 the Learned Component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783080"/>
            <a:ext cx="4892040" cy="4069080"/>
          </a:xfrm>
          <a:prstGeom prst="roundRect">
            <a:avLst>
              <a:gd name="adj" fmla="val 2247"/>
            </a:avLst>
          </a:prstGeom>
          <a:solidFill>
            <a:srgbClr val="17233D"/>
          </a:solidFill>
          <a:ln/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22960" y="2103120"/>
            <a:ext cx="502920" cy="50292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690" y="2228850"/>
            <a:ext cx="251460" cy="2514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68680" y="2834640"/>
            <a:ext cx="416052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unit of coverage is the ODD: test across the envelope's conditions, edges, and stated exclusions — not just a held-out dataset.</a:t>
            </a:r>
            <a:endParaRPr lang="en-US" sz="1650" dirty="0"/>
          </a:p>
        </p:txBody>
      </p:sp>
      <p:sp>
        <p:nvSpPr>
          <p:cNvPr id="11" name="Shape 7"/>
          <p:cNvSpPr/>
          <p:nvPr/>
        </p:nvSpPr>
        <p:spPr>
          <a:xfrm>
            <a:off x="5669280" y="1783080"/>
            <a:ext cx="6016752" cy="1920240"/>
          </a:xfrm>
          <a:prstGeom prst="roundRect">
            <a:avLst>
              <a:gd name="adj" fmla="val 4286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907024" y="2002536"/>
            <a:ext cx="457200" cy="457200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13" name="Text 9"/>
          <p:cNvSpPr/>
          <p:nvPr/>
        </p:nvSpPr>
        <p:spPr>
          <a:xfrm>
            <a:off x="5907024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2.2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6537960" y="1984248"/>
            <a:ext cx="487375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performance with confidence intervals; a point accuracy without sample size is marketing, not evidence.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669280" y="3931920"/>
            <a:ext cx="6016752" cy="1920240"/>
          </a:xfrm>
          <a:prstGeom prst="roundRect">
            <a:avLst>
              <a:gd name="adj" fmla="val 4286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907024" y="4151376"/>
            <a:ext cx="457200" cy="457200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17" name="Text 13"/>
          <p:cNvSpPr/>
          <p:nvPr/>
        </p:nvSpPr>
        <p:spPr>
          <a:xfrm>
            <a:off x="5907024" y="4151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2.3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6537960" y="4133088"/>
            <a:ext cx="487375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set must stay independent of training influence — leakage silently converts evaluation into rehearsal.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8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· CONCEPT 3 OF 4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Shared-Blind-Spot Problem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874520"/>
            <a:ext cx="3544824" cy="38404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58952" y="2112264"/>
            <a:ext cx="475488" cy="475488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9" name="Text 6"/>
          <p:cNvSpPr/>
          <p:nvPr/>
        </p:nvSpPr>
        <p:spPr>
          <a:xfrm>
            <a:off x="758952" y="2112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58952" y="2788920"/>
            <a:ext cx="3032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one model (or one worldview) both generates the design and generates its tests, the same misconception hides in both.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322064" y="1874520"/>
            <a:ext cx="3544824" cy="38404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78096" y="2112264"/>
            <a:ext cx="475488" cy="475488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13" name="Text 10"/>
          <p:cNvSpPr/>
          <p:nvPr/>
        </p:nvSpPr>
        <p:spPr>
          <a:xfrm>
            <a:off x="4578096" y="2112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578096" y="2788920"/>
            <a:ext cx="3032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Independence is the classical cure: separate teams, separate models, separate data — bought deliberately, because it costs.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141208" y="1874520"/>
            <a:ext cx="3544824" cy="3840480"/>
          </a:xfrm>
          <a:prstGeom prst="roundRect">
            <a:avLst>
              <a:gd name="adj" fmla="val 2322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397240" y="2112264"/>
            <a:ext cx="475488" cy="475488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17" name="Text 14"/>
          <p:cNvSpPr/>
          <p:nvPr/>
        </p:nvSpPr>
        <p:spPr>
          <a:xfrm>
            <a:off x="8397240" y="2112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397240" y="2788920"/>
            <a:ext cx="3032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monitoring is the last line: instrument the ODD boundaries so the system tells you when reality leaves the envelope.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8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· CONCEPT 4 OF 4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Assurance Cases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783080"/>
            <a:ext cx="4892040" cy="4069080"/>
          </a:xfrm>
          <a:prstGeom prst="roundRect">
            <a:avLst>
              <a:gd name="adj" fmla="val 2247"/>
            </a:avLst>
          </a:prstGeom>
          <a:solidFill>
            <a:srgbClr val="17233D"/>
          </a:solidFill>
          <a:ln/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22960" y="2103120"/>
            <a:ext cx="502920" cy="50292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690" y="2228850"/>
            <a:ext cx="251460" cy="2514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68680" y="2834640"/>
            <a:ext cx="416052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structured argument: top-level claim, decomposed sub-claims, and the evidence artifact supporting each leaf.</a:t>
            </a:r>
            <a:endParaRPr lang="en-US" sz="1650" dirty="0"/>
          </a:p>
        </p:txBody>
      </p:sp>
      <p:sp>
        <p:nvSpPr>
          <p:cNvPr id="11" name="Shape 7"/>
          <p:cNvSpPr/>
          <p:nvPr/>
        </p:nvSpPr>
        <p:spPr>
          <a:xfrm>
            <a:off x="5669280" y="1783080"/>
            <a:ext cx="6016752" cy="1920240"/>
          </a:xfrm>
          <a:prstGeom prst="roundRect">
            <a:avLst>
              <a:gd name="adj" fmla="val 4286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907024" y="2002536"/>
            <a:ext cx="457200" cy="457200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13" name="Text 9"/>
          <p:cNvSpPr/>
          <p:nvPr/>
        </p:nvSpPr>
        <p:spPr>
          <a:xfrm>
            <a:off x="5907024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4.2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6537960" y="1984248"/>
            <a:ext cx="487375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Goal-structuring notation makes the argument reviewable — a person can attack a specific inference, not a vibe.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669280" y="3931920"/>
            <a:ext cx="6016752" cy="1920240"/>
          </a:xfrm>
          <a:prstGeom prst="roundRect">
            <a:avLst>
              <a:gd name="adj" fmla="val 4286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907024" y="4151376"/>
            <a:ext cx="457200" cy="457200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17" name="Text 13"/>
          <p:cNvSpPr/>
          <p:nvPr/>
        </p:nvSpPr>
        <p:spPr>
          <a:xfrm>
            <a:off x="5907024" y="4151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4.3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6537960" y="4133088"/>
            <a:ext cx="487375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AI components, the case typically rests on envelope testing + monitoring + fallback — and says so out loud.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8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· THE AI LENS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AI Enters This Week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874520"/>
            <a:ext cx="3544824" cy="365760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58952" y="2130552"/>
            <a:ext cx="566928" cy="566928"/>
          </a:xfrm>
          <a:prstGeom prst="ellipse">
            <a:avLst/>
          </a:prstGeom>
          <a:solidFill>
            <a:srgbClr val="3E5C89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" y="2272284"/>
            <a:ext cx="283464" cy="28346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58952" y="2807208"/>
            <a:ext cx="3032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a Tool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758952" y="3246120"/>
            <a:ext cx="30327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generation, coverage gap analysis, and log triage — AI accelerates the mechanics of V&amp;V.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4322064" y="1874520"/>
            <a:ext cx="3544824" cy="3657600"/>
          </a:xfrm>
          <a:prstGeom prst="roundRect">
            <a:avLst>
              <a:gd name="adj" fmla="val 2322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578096" y="2130552"/>
            <a:ext cx="566928" cy="566928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828" y="2272284"/>
            <a:ext cx="283464" cy="28346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578096" y="2807208"/>
            <a:ext cx="3032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a Component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4578096" y="3246120"/>
            <a:ext cx="30327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component under test is statistical, so acceptance criteria, sampling, and confidence become part of the plan itself.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8141208" y="1874520"/>
            <a:ext cx="3544824" cy="3657600"/>
          </a:xfrm>
          <a:prstGeom prst="roundRect">
            <a:avLst>
              <a:gd name="adj" fmla="val 2322"/>
            </a:avLst>
          </a:prstGeom>
          <a:solidFill>
            <a:srgbClr val="FCEEF1"/>
          </a:solidFill>
          <a:ln w="13970">
            <a:solidFill>
              <a:srgbClr val="CC0035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397240" y="2130552"/>
            <a:ext cx="566928" cy="566928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8972" y="2272284"/>
            <a:ext cx="283464" cy="28346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397240" y="2807208"/>
            <a:ext cx="3032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Human Residual</a:t>
            </a:r>
            <a:endParaRPr lang="en-US" sz="1500" dirty="0"/>
          </a:p>
        </p:txBody>
      </p:sp>
      <p:sp>
        <p:nvSpPr>
          <p:cNvPr id="21" name="Text 15"/>
          <p:cNvSpPr/>
          <p:nvPr/>
        </p:nvSpPr>
        <p:spPr>
          <a:xfrm>
            <a:off x="8397240" y="3246120"/>
            <a:ext cx="30327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Judging evidence sufficiency, buying independence, and deciding the case is strong enough to proceed.</a:t>
            </a:r>
            <a:endParaRPr lang="en-US" sz="1250" dirty="0"/>
          </a:p>
        </p:txBody>
      </p:sp>
      <p:sp>
        <p:nvSpPr>
          <p:cNvPr id="22" name="Text 16"/>
          <p:cNvSpPr/>
          <p:nvPr/>
        </p:nvSpPr>
        <p:spPr>
          <a:xfrm>
            <a:off x="502920" y="580644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question, every week: which mode is this — and what human role does it leave behind?</a:t>
            </a:r>
            <a:endParaRPr lang="en-US" sz="1150" dirty="0"/>
          </a:p>
        </p:txBody>
      </p:sp>
      <p:sp>
        <p:nvSpPr>
          <p:cNvPr id="23" name="Text 17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8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· APPLICATIONS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Across the Disciplines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828800"/>
            <a:ext cx="5408676" cy="1920240"/>
          </a:xfrm>
          <a:prstGeom prst="roundRect">
            <a:avLst>
              <a:gd name="adj" fmla="val 4286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58952" y="2103120"/>
            <a:ext cx="621792" cy="621792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58568"/>
            <a:ext cx="310896" cy="31089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54480" y="2103120"/>
            <a:ext cx="4128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C0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Automotive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1554480" y="2523744"/>
            <a:ext cx="4082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Perception validation: scenario coverage across the ODD, plus shadow-mode fleets before activation.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277356" y="1828800"/>
            <a:ext cx="5408676" cy="1920240"/>
          </a:xfrm>
          <a:prstGeom prst="roundRect">
            <a:avLst>
              <a:gd name="adj" fmla="val 4286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33388" y="2103120"/>
            <a:ext cx="621792" cy="621792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836" y="2258568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328916" y="2103120"/>
            <a:ext cx="4128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C0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Biomedical</a:t>
            </a:r>
            <a:endParaRPr lang="en-US" sz="1450" dirty="0"/>
          </a:p>
        </p:txBody>
      </p:sp>
      <p:sp>
        <p:nvSpPr>
          <p:cNvPr id="16" name="Text 11"/>
          <p:cNvSpPr/>
          <p:nvPr/>
        </p:nvSpPr>
        <p:spPr>
          <a:xfrm>
            <a:off x="7328916" y="2523744"/>
            <a:ext cx="4082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verification proves the spec; clinical validation proves the need — regulators want both.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502920" y="4069080"/>
            <a:ext cx="5408676" cy="1920240"/>
          </a:xfrm>
          <a:prstGeom prst="roundRect">
            <a:avLst>
              <a:gd name="adj" fmla="val 4286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758952" y="4343400"/>
            <a:ext cx="621792" cy="621792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498848"/>
            <a:ext cx="310896" cy="31089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554480" y="4343400"/>
            <a:ext cx="4128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C0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Aerospace</a:t>
            </a:r>
            <a:endParaRPr lang="en-US" sz="1450" dirty="0"/>
          </a:p>
        </p:txBody>
      </p:sp>
      <p:sp>
        <p:nvSpPr>
          <p:cNvPr id="21" name="Text 15"/>
          <p:cNvSpPr/>
          <p:nvPr/>
        </p:nvSpPr>
        <p:spPr>
          <a:xfrm>
            <a:off x="1554480" y="4764024"/>
            <a:ext cx="4082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credibility: model V&amp;V decides how much flight test the sim can honestly replace.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6277356" y="4069080"/>
            <a:ext cx="5408676" cy="1920240"/>
          </a:xfrm>
          <a:prstGeom prst="roundRect">
            <a:avLst>
              <a:gd name="adj" fmla="val 4286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6533388" y="4343400"/>
            <a:ext cx="621792" cy="621792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8836" y="4498848"/>
            <a:ext cx="310896" cy="31089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7328916" y="4343400"/>
            <a:ext cx="4128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C0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Industrial</a:t>
            </a:r>
            <a:endParaRPr lang="en-US" sz="1450" dirty="0"/>
          </a:p>
        </p:txBody>
      </p:sp>
      <p:sp>
        <p:nvSpPr>
          <p:cNvPr id="26" name="Text 19"/>
          <p:cNvSpPr/>
          <p:nvPr/>
        </p:nvSpPr>
        <p:spPr>
          <a:xfrm>
            <a:off x="7328916" y="4764024"/>
            <a:ext cx="4082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QA: statistical acceptance with periodic human audit of the model's rejects and accepts.</a:t>
            </a:r>
            <a:endParaRPr lang="en-US" sz="1200" dirty="0"/>
          </a:p>
        </p:txBody>
      </p:sp>
      <p:sp>
        <p:nvSpPr>
          <p:cNvPr id="27" name="Text 20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8</a:t>
            </a:r>
            <a:endParaRPr lang="en-US" sz="900" dirty="0"/>
          </a:p>
        </p:txBody>
      </p:sp>
      <p:sp>
        <p:nvSpPr>
          <p:cNvPr id="28" name="Text 21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· STUDIO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In-Class Activity &amp; Discussion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783080"/>
            <a:ext cx="5577840" cy="4114800"/>
          </a:xfrm>
          <a:prstGeom prst="roundRect">
            <a:avLst>
              <a:gd name="adj" fmla="val 2000"/>
            </a:avLst>
          </a:prstGeom>
          <a:solidFill>
            <a:srgbClr val="FCEEF1"/>
          </a:solidFill>
          <a:ln w="13970">
            <a:solidFill>
              <a:srgbClr val="CC0035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2039112"/>
            <a:ext cx="603504" cy="603504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" y="2189988"/>
            <a:ext cx="301752" cy="30175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112264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Studio activity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822960" y="2834640"/>
            <a:ext cx="49377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Assurance studio: draft a claim–argument–evidence fragment for one learned function of your project — top claim, three sub-claims, and the specific artifact behind each.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6355080" y="1783080"/>
            <a:ext cx="5330952" cy="4114800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629400" y="2039112"/>
            <a:ext cx="603504" cy="603504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0276" y="2189988"/>
            <a:ext cx="301752" cy="30175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360920" y="2112264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Seminar discussion</a:t>
            </a:r>
            <a:endParaRPr lang="en-US" sz="1600" dirty="0"/>
          </a:p>
        </p:txBody>
      </p:sp>
      <p:sp>
        <p:nvSpPr>
          <p:cNvPr id="16" name="Shape 11"/>
          <p:cNvSpPr/>
          <p:nvPr/>
        </p:nvSpPr>
        <p:spPr>
          <a:xfrm>
            <a:off x="6675120" y="2880360"/>
            <a:ext cx="420624" cy="420624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17" name="Text 12"/>
          <p:cNvSpPr/>
          <p:nvPr/>
        </p:nvSpPr>
        <p:spPr>
          <a:xfrm>
            <a:off x="6675120" y="2880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Q1</a:t>
            </a:r>
            <a:endParaRPr lang="en-US" sz="1150" dirty="0"/>
          </a:p>
        </p:txBody>
      </p:sp>
      <p:sp>
        <p:nvSpPr>
          <p:cNvPr id="18" name="Text 13"/>
          <p:cNvSpPr/>
          <p:nvPr/>
        </p:nvSpPr>
        <p:spPr>
          <a:xfrm>
            <a:off x="7251192" y="2834640"/>
            <a:ext cx="4160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count as enough evidence to field your project's learned function — and who says so?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675120" y="4297680"/>
            <a:ext cx="420624" cy="420624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20" name="Text 15"/>
          <p:cNvSpPr/>
          <p:nvPr/>
        </p:nvSpPr>
        <p:spPr>
          <a:xfrm>
            <a:off x="6675120" y="4297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Q2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7251192" y="4251960"/>
            <a:ext cx="4160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in your field do the builders also write the tests, and what has it cost?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8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· WRAP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Next Week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828800"/>
            <a:ext cx="11183112" cy="1234440"/>
          </a:xfrm>
          <a:prstGeom prst="roundRect">
            <a:avLst>
              <a:gd name="adj" fmla="val 6667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2162556"/>
            <a:ext cx="566928" cy="566928"/>
          </a:xfrm>
          <a:prstGeom prst="ellipse">
            <a:avLst/>
          </a:prstGeom>
          <a:solidFill>
            <a:srgbClr val="3E5C89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" y="2304288"/>
            <a:ext cx="283464" cy="28346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1956816"/>
            <a:ext cx="15544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063240" y="1956816"/>
            <a:ext cx="84124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Kossiakoff ch.11–12; INCOSE Hdbk (V&amp;V); SEBoK verification &amp; validation articles.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02920" y="3319272"/>
            <a:ext cx="11183112" cy="1234440"/>
          </a:xfrm>
          <a:prstGeom prst="roundRect">
            <a:avLst>
              <a:gd name="adj" fmla="val 6667"/>
            </a:avLst>
          </a:prstGeom>
          <a:solidFill>
            <a:srgbClr val="FCEEF1"/>
          </a:solidFill>
          <a:ln w="12700">
            <a:solidFill>
              <a:srgbClr val="CC003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777240" y="3653028"/>
            <a:ext cx="566928" cy="566928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" y="3794760"/>
            <a:ext cx="283464" cy="28346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08760" y="3447288"/>
            <a:ext cx="15544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Due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3063240" y="3447288"/>
            <a:ext cx="84124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Midterm due. Project D3 due: multi-objective trade study.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502920" y="4809744"/>
            <a:ext cx="11183112" cy="1234440"/>
          </a:xfrm>
          <a:prstGeom prst="roundRect">
            <a:avLst>
              <a:gd name="adj" fmla="val 6667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777240" y="5143500"/>
            <a:ext cx="566928" cy="566928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5285232"/>
            <a:ext cx="283464" cy="28346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508760" y="4937760"/>
            <a:ext cx="15544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week</a:t>
            </a:r>
            <a:endParaRPr lang="en-US" sz="1500" dirty="0"/>
          </a:p>
        </p:txBody>
      </p:sp>
      <p:sp>
        <p:nvSpPr>
          <p:cNvPr id="21" name="Text 15"/>
          <p:cNvSpPr/>
          <p:nvPr/>
        </p:nvSpPr>
        <p:spPr>
          <a:xfrm>
            <a:off x="3063240" y="4937760"/>
            <a:ext cx="84124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— Reliability, Availability &amp; Resilience (RAMS). Reliability, availability, maintainability; fault tolerance and graceful degradation; reliability with AI components in the loop.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8</a:t>
            </a:r>
            <a:endParaRPr lang="en-US" sz="900" dirty="0"/>
          </a:p>
        </p:txBody>
      </p:sp>
      <p:sp>
        <p:nvSpPr>
          <p:cNvPr id="23" name="Text 17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AI-Augmented Systems Engineering — Week 8 — Verification &amp; Validation of Systems with Learned Components</dc:title>
  <dc:subject>PptxGenJS Presentation</dc:subject>
  <dc:creator>FPGA Professional Association</dc:creator>
  <cp:lastModifiedBy>FPGA Professional Association</cp:lastModifiedBy>
  <cp:revision>1</cp:revision>
  <dcterms:created xsi:type="dcterms:W3CDTF">2026-07-04T02:47:30Z</dcterms:created>
  <dcterms:modified xsi:type="dcterms:W3CDTF">2026-07-04T02:47:30Z</dcterms:modified>
</cp:coreProperties>
</file>