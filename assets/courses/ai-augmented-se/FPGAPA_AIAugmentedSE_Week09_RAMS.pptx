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663440"/>
            <a:ext cx="3108960" cy="31089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1554480" cy="155448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4917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97480" y="19202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  ·  AI-AUGMENTED SYSTEMS ENGINEERING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697480" y="2240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OF 15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651760" y="2578608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Reliability, Availability &amp; Resilience (RAMS)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697480" y="3977640"/>
            <a:ext cx="4754880" cy="0"/>
          </a:xfrm>
          <a:prstGeom prst="line">
            <a:avLst/>
          </a:prstGeom>
          <a:noFill/>
          <a:ln w="15875">
            <a:solidFill>
              <a:srgbClr val="3E5C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7480" y="41148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availability, maintainability; fault tolerance and graceful degradation; reliability with AI components in the loop.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9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SESSION PLAN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&amp; Objectives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RAMS Quantities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026664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999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Toolkit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3602736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 &amp; Graceful Degradation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178808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41513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Changes the Failure Modes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4727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activity &amp; discussion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5330952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2588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next week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45352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19672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you can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565392" y="242316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reliability block diagrams, FMEA, and availability modeling to a system.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fault tolerance and graceful degradation for mission-critical operation.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failure modes introduced by AI components — drift, silent degradation, automation complacency.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reliability targets under rare-event uncertainty and defend the allocation.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9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CONCEPT 1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RAMS Quantities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probability of performing the function for a stated time under stated conditions — a curve, not an adjective.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= uptime discipline: MTBF against MTTR; maintainability is the design property that shrinks the denominator.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flow down like any requirement: system availability allocates to subsystem reliabilities you can actually buy.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9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CONCEPT 2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Classical Toolkit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block diagrams compose series and parallel structure into system-level numbers.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 walks each element's failure modes, effects, and detectability — severity × occurrence × detection ranks the risk.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trees invert the question: start from the hazard and trace the boolean logic of what must fail to cause it.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9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CONCEPT 3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Tolerance &amp; Graceful Degradation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buys tolerance only with independence — common-cause failure is the tax collector of naive duplication.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degraded modes explicitly: what the system still does, at what performance, when each element is lost.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Fail-operational, fail-safe, fail-secure are different promises; pick per function and write them into requirements.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9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CONCEPT 4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Changes the Failure Modes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shift degrades a model silently — no bearing squeal, no error code, just quietly worsening decisions.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complacency is a system failure mode: the human monitor's vigilance decays exactly as the model's novelty does.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Countermeasures are architectural: runtime monitors on inputs and confidence, periodic challenge tests, designed re-engagement of the human.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9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THE AI LENS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Enters This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30552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272284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Tool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8952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models and predictive maintenance forecast wear-out; anomaly detection catches drift before the KPI does.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2064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8096" y="2130552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2272284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8096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Component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8096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itself needs a reliability story: monitored envelope, degraded fallback, and a retraining/rollback path.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41208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97240" y="2130552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972" y="227228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97240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Residual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97240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tolerable failure rates for rare, high-consequence events — a judgment no dataset fully covers.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every week: which mode is this — and what human role does it leave behind?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9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APPLICATIONS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Disciplines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585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554480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farm: availability modeling across turbines, weather windows, and maintenance vessels.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77356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3388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22585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28916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328916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flight computers: independence and voting logic, not just copies.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8952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9884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Biomedical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554480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reliability vs. alarm fatigue — a false-positive rate is a patient-safety number.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77356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33388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449884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28916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328916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FMEA: wear-out modes ranked, with the AI drift mode added alongside the mechanical ones.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9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STUDIO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Activity &amp; Discussion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39112"/>
            <a:ext cx="603504" cy="603504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189988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1122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activity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283464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 sprint: five failure modes for your project — at least one belonging to the learned component — scored for severity, occurrence, and detection, with one design change proposed for the top score.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55080" y="1783080"/>
            <a:ext cx="5330952" cy="411480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2039112"/>
            <a:ext cx="603504" cy="603504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2189988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2112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Seminar discussion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675120" y="288036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2"/>
          <p:cNvSpPr/>
          <p:nvPr/>
        </p:nvSpPr>
        <p:spPr>
          <a:xfrm>
            <a:off x="667512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251192" y="28346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“the model failed” mean operationally in your project — and who notices first?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429768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0" name="Text 15"/>
          <p:cNvSpPr/>
          <p:nvPr/>
        </p:nvSpPr>
        <p:spPr>
          <a:xfrm>
            <a:off x="667512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51192" y="425196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the human re-enter the loop when confidence drops, and how do you keep them ready?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9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WRAP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162556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30428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56816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063240" y="1956816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RAMS reference material; Kossiakoff (reliability); INCOSE Hdbk (RAMS specialty).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319272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CEEF1"/>
          </a:solidFill>
          <a:ln w="12700">
            <a:solidFill>
              <a:srgbClr val="CC003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653028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79476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447288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063240" y="3447288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PS-3 released.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809744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5143500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28523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937760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063240" y="4937760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— Integrated Risk Management. Risk identification, analysis, and handling across the lifecycle; risk registers; AI-specific technical risks; programmatic risk.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9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Systems Engineering — Week 9 — Reliability, Availability &amp; Resilience (RAMS)</dc:title>
  <dc:subject>PptxGenJS Presentation</dc:subject>
  <dc:creator>FPGA Professional Association</dc:creator>
  <cp:lastModifiedBy>FPGA Professional Association</cp:lastModifiedBy>
  <cp:revision>1</cp:revision>
  <dcterms:created xsi:type="dcterms:W3CDTF">2026-07-04T02:47:30Z</dcterms:created>
  <dcterms:modified xsi:type="dcterms:W3CDTF">2026-07-04T02:47:30Z</dcterms:modified>
</cp:coreProperties>
</file>