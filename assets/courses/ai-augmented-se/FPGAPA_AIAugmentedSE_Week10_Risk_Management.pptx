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023360" cy="4023360"/>
          </a:xfrm>
          <a:prstGeom prst="ellipse">
            <a:avLst/>
          </a:prstGeom>
          <a:solidFill>
            <a:srgbClr val="20304F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663440"/>
            <a:ext cx="3108960" cy="3108960"/>
          </a:xfrm>
          <a:prstGeom prst="ellipse">
            <a:avLst/>
          </a:prstGeom>
          <a:solidFill>
            <a:srgbClr val="20304F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103120"/>
            <a:ext cx="1554480" cy="1554480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2491740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697480" y="192024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  ·  AI-AUGMENTED SYSTEMS ENGINEERING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697480" y="22402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E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 OF 15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651760" y="2578608"/>
            <a:ext cx="9052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Integrated Risk Management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2697480" y="3977640"/>
            <a:ext cx="4754880" cy="0"/>
          </a:xfrm>
          <a:prstGeom prst="line">
            <a:avLst/>
          </a:prstGeom>
          <a:noFill/>
          <a:ln w="15875">
            <a:solidFill>
              <a:srgbClr val="3E5C8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97480" y="411480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i="1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identification, analysis, and handling across the lifecycle; risk registers; AI-specific technical risks; programmatic risk.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E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10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 · SESSION PLAN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 &amp; Objectives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737360"/>
            <a:ext cx="5440680" cy="4206240"/>
          </a:xfrm>
          <a:prstGeom prst="roundRect">
            <a:avLst>
              <a:gd name="adj" fmla="val 1957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1938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agenda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2450592"/>
            <a:ext cx="365760" cy="365760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450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325880" y="24231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Process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22960" y="3026664"/>
            <a:ext cx="365760" cy="365760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3026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325880" y="29992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AI-Specific Technical Risks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22960" y="3602736"/>
            <a:ext cx="365760" cy="365760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3602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325880" y="35753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Risk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22960" y="4178808"/>
            <a:ext cx="365760" cy="365760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4178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325880" y="415137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Risk-Informed Decisions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822960" y="4754880"/>
            <a:ext cx="365760" cy="36576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22" name="Text 19"/>
          <p:cNvSpPr/>
          <p:nvPr/>
        </p:nvSpPr>
        <p:spPr>
          <a:xfrm>
            <a:off x="82296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325880" y="47274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activity &amp; discussion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822960" y="5330952"/>
            <a:ext cx="365760" cy="36576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25" name="Text 22"/>
          <p:cNvSpPr/>
          <p:nvPr/>
        </p:nvSpPr>
        <p:spPr>
          <a:xfrm>
            <a:off x="822960" y="5330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325880" y="53035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&amp; next week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245352" y="1737360"/>
            <a:ext cx="5440680" cy="4206240"/>
          </a:xfrm>
          <a:prstGeom prst="roundRect">
            <a:avLst>
              <a:gd name="adj" fmla="val 1957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519672" y="1938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session, you can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565392" y="242316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maintain a risk register with likelihood/consequence scoring and handling strategies.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technical risks specific to AI components: hallucination, distribution shift, opacity, evaluation gaps.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programmatic risks — supplier, obsolescence, schedule, cost — and their coupling to technical choices.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risk into decisions continuously rather than as a one-time exercise.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10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 · CONCEPT 1 OF 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Risk Process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9" name="Text 6"/>
          <p:cNvSpPr/>
          <p:nvPr/>
        </p:nvSpPr>
        <p:spPr>
          <a:xfrm>
            <a:off x="758952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58952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→ analyze → handle → monitor, on a cadence — risk is a process property of the program, not a document.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22064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8096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3" name="Text 10"/>
          <p:cNvSpPr/>
          <p:nvPr/>
        </p:nvSpPr>
        <p:spPr>
          <a:xfrm>
            <a:off x="4578096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8096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× consequence gives the ranking; the 5×5 matrix is coarse but forces the conversation.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141208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397240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7" name="Text 14"/>
          <p:cNvSpPr/>
          <p:nvPr/>
        </p:nvSpPr>
        <p:spPr>
          <a:xfrm>
            <a:off x="8397240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397240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options: avoid, mitigate, transfer, accept — each with an owner, a trigger, and a review date.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10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 · CONCEPT 2 OF 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AI-Specific Technical Risks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783080"/>
            <a:ext cx="4892040" cy="4069080"/>
          </a:xfrm>
          <a:prstGeom prst="roundRect">
            <a:avLst>
              <a:gd name="adj" fmla="val 2247"/>
            </a:avLst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222885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2834640"/>
            <a:ext cx="41605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Generation risk: plausible-but-wrong outputs enter designs and documents wearing confident prose.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5669280" y="1783080"/>
            <a:ext cx="6016752" cy="1920240"/>
          </a:xfrm>
          <a:prstGeom prst="roundRect">
            <a:avLst>
              <a:gd name="adj" fmla="val 4286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907024" y="2002536"/>
            <a:ext cx="457200" cy="45720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13" name="Text 9"/>
          <p:cNvSpPr/>
          <p:nvPr/>
        </p:nvSpPr>
        <p:spPr>
          <a:xfrm>
            <a:off x="590702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537960" y="1984248"/>
            <a:ext cx="48737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risk: the world changes out from under the training data; performance decays without an error message.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669280" y="3931920"/>
            <a:ext cx="6016752" cy="1920240"/>
          </a:xfrm>
          <a:prstGeom prst="roundRect">
            <a:avLst>
              <a:gd name="adj" fmla="val 4286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907024" y="4151376"/>
            <a:ext cx="457200" cy="45720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17" name="Text 13"/>
          <p:cNvSpPr/>
          <p:nvPr/>
        </p:nvSpPr>
        <p:spPr>
          <a:xfrm>
            <a:off x="5907024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537960" y="4133088"/>
            <a:ext cx="48737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risk: benchmarks that miss the deployment distribution certify the wrong thing convincingly.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10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 · CONCEPT 3 OF 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Programmatic Risk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9" name="Text 6"/>
          <p:cNvSpPr/>
          <p:nvPr/>
        </p:nvSpPr>
        <p:spPr>
          <a:xfrm>
            <a:off x="758952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58952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Single-source suppliers, long-lead items, and part obsolescence are multi-year bets hiding inside a parts list.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22064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8096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3" name="Text 10"/>
          <p:cNvSpPr/>
          <p:nvPr/>
        </p:nvSpPr>
        <p:spPr>
          <a:xfrm>
            <a:off x="4578096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8096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risk concentrates on the critical path — Week 7's longest-path lens is your early-warning instrument.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141208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397240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7" name="Text 14"/>
          <p:cNvSpPr/>
          <p:nvPr/>
        </p:nvSpPr>
        <p:spPr>
          <a:xfrm>
            <a:off x="8397240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397240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risk compounds: technical rework, schedule slip, and scope growth feed one another.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10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 · CONCEPT 4 OF 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Risk-Informed Decisions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783080"/>
            <a:ext cx="4892040" cy="4069080"/>
          </a:xfrm>
          <a:prstGeom prst="roundRect">
            <a:avLst>
              <a:gd name="adj" fmla="val 2247"/>
            </a:avLst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222885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2834640"/>
            <a:ext cx="41605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gate review is a risk review: what changed, what retired, what emerged, what the register says about proceeding.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5669280" y="1783080"/>
            <a:ext cx="6016752" cy="1920240"/>
          </a:xfrm>
          <a:prstGeom prst="roundRect">
            <a:avLst>
              <a:gd name="adj" fmla="val 4286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907024" y="2002536"/>
            <a:ext cx="457200" cy="45720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13" name="Text 9"/>
          <p:cNvSpPr/>
          <p:nvPr/>
        </p:nvSpPr>
        <p:spPr>
          <a:xfrm>
            <a:off x="590702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537960" y="1984248"/>
            <a:ext cx="48737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methods (Monte Carlo on schedule/cost, decision trees) sharpen the big bets beyond the color matrix.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669280" y="3931920"/>
            <a:ext cx="6016752" cy="1920240"/>
          </a:xfrm>
          <a:prstGeom prst="roundRect">
            <a:avLst>
              <a:gd name="adj" fmla="val 4286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907024" y="4151376"/>
            <a:ext cx="457200" cy="45720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17" name="Text 13"/>
          <p:cNvSpPr/>
          <p:nvPr/>
        </p:nvSpPr>
        <p:spPr>
          <a:xfrm>
            <a:off x="5907024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537960" y="4133088"/>
            <a:ext cx="48737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register's real product is arguments: a stated reason to accept each residual risk, owned by a named person.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10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 · THE AI LENS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AI Enters This Week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874520"/>
            <a:ext cx="3544824" cy="3657600"/>
          </a:xfrm>
          <a:prstGeom prst="roundRect">
            <a:avLst>
              <a:gd name="adj" fmla="val 2322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" y="2130552"/>
            <a:ext cx="566928" cy="566928"/>
          </a:xfrm>
          <a:prstGeom prst="ellipse">
            <a:avLst/>
          </a:prstGeom>
          <a:solidFill>
            <a:srgbClr val="3E5C8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" y="2272284"/>
            <a:ext cx="283464" cy="2834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8952" y="2807208"/>
            <a:ext cx="303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a Tool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58952" y="3246120"/>
            <a:ext cx="3032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 issue logs and past programs for leading indicators; Monte Carlo at scale; register hygiene automation.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322064" y="1874520"/>
            <a:ext cx="3544824" cy="3657600"/>
          </a:xfrm>
          <a:prstGeom prst="roundRect">
            <a:avLst>
              <a:gd name="adj" fmla="val 2322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78096" y="2130552"/>
            <a:ext cx="566928" cy="566928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9828" y="2272284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78096" y="2807208"/>
            <a:ext cx="303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a Component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578096" y="3246120"/>
            <a:ext cx="3032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fielded model carries drift and evaluation risks that live on the register for the life of the product.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141208" y="1874520"/>
            <a:ext cx="3544824" cy="3657600"/>
          </a:xfrm>
          <a:prstGeom prst="roundRect">
            <a:avLst>
              <a:gd name="adj" fmla="val 2322"/>
            </a:avLst>
          </a:prstGeom>
          <a:solidFill>
            <a:srgbClr val="FCEEF1"/>
          </a:solidFill>
          <a:ln w="13970">
            <a:solidFill>
              <a:srgbClr val="CC0035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97240" y="2130552"/>
            <a:ext cx="566928" cy="566928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8972" y="2272284"/>
            <a:ext cx="283464" cy="28346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97240" y="2807208"/>
            <a:ext cx="303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Human Residual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8397240" y="3246120"/>
            <a:ext cx="3032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Accepting residual risk — the signature that says this uncertainty, on this evidence, is worth carrying.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502920" y="580644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question, every week: which mode is this — and what human role does it leave behind?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10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 · APPLICATIONS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the Disciplines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828800"/>
            <a:ext cx="5408676" cy="1920240"/>
          </a:xfrm>
          <a:prstGeom prst="roundRect">
            <a:avLst>
              <a:gd name="adj" fmla="val 4286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" y="2103120"/>
            <a:ext cx="621792" cy="621792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5856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103120"/>
            <a:ext cx="4128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C0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Aerospace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554480" y="2523744"/>
            <a:ext cx="40827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Long-lead structural castings: one supplier slip re-plans the whole integration sequence.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77356" y="1828800"/>
            <a:ext cx="5408676" cy="1920240"/>
          </a:xfrm>
          <a:prstGeom prst="roundRect">
            <a:avLst>
              <a:gd name="adj" fmla="val 4286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33388" y="2103120"/>
            <a:ext cx="621792" cy="621792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8836" y="2258568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28916" y="2103120"/>
            <a:ext cx="4128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C0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Automotive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7328916" y="2523744"/>
            <a:ext cx="40827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obsolescence: a discontinued part mid-program is a redesign wearing a memo.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02920" y="4069080"/>
            <a:ext cx="5408676" cy="1920240"/>
          </a:xfrm>
          <a:prstGeom prst="roundRect">
            <a:avLst>
              <a:gd name="adj" fmla="val 4286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58952" y="4343400"/>
            <a:ext cx="621792" cy="621792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498848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54480" y="4343400"/>
            <a:ext cx="4128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C0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Biomedical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1554480" y="4764024"/>
            <a:ext cx="40827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Post-market model drift: patient populations shift, and last year's validation quietly ages.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277356" y="4069080"/>
            <a:ext cx="5408676" cy="1920240"/>
          </a:xfrm>
          <a:prstGeom prst="roundRect">
            <a:avLst>
              <a:gd name="adj" fmla="val 4286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533388" y="4343400"/>
            <a:ext cx="621792" cy="621792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8836" y="4498848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328916" y="4343400"/>
            <a:ext cx="4128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C0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Civil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7328916" y="4764024"/>
            <a:ext cx="40827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Geotechnical uncertainty: the soil report is a sample, and the register should say so.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10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 · STUDIO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In-Class Activity &amp; Discussion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783080"/>
            <a:ext cx="5577840" cy="4114800"/>
          </a:xfrm>
          <a:prstGeom prst="roundRect">
            <a:avLst>
              <a:gd name="adj" fmla="val 2000"/>
            </a:avLst>
          </a:prstGeom>
          <a:solidFill>
            <a:srgbClr val="FCEEF1"/>
          </a:solidFill>
          <a:ln w="13970">
            <a:solidFill>
              <a:srgbClr val="CC0035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2039112"/>
            <a:ext cx="603504" cy="603504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" y="2189988"/>
            <a:ext cx="301752" cy="3017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112264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Studio activity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22960" y="2834640"/>
            <a:ext cx="49377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build: six risks for your project — two AI-specific, two programmatic, two technical — scored, with a handling strategy and trigger for each; present your top risk in ninety seconds.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355080" y="1783080"/>
            <a:ext cx="5330952" cy="411480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629400" y="2039112"/>
            <a:ext cx="603504" cy="603504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276" y="2189988"/>
            <a:ext cx="301752" cy="3017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60920" y="211226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Seminar discussion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6675120" y="2880360"/>
            <a:ext cx="420624" cy="420624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17" name="Text 12"/>
          <p:cNvSpPr/>
          <p:nvPr/>
        </p:nvSpPr>
        <p:spPr>
          <a:xfrm>
            <a:off x="6675120" y="2880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7251192" y="2834640"/>
            <a:ext cx="4160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risk on your project would survive every mitigation you can afford — and is it acceptable?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675120" y="4297680"/>
            <a:ext cx="420624" cy="420624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20" name="Text 15"/>
          <p:cNvSpPr/>
          <p:nvPr/>
        </p:nvSpPr>
        <p:spPr>
          <a:xfrm>
            <a:off x="6675120" y="4297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7251192" y="4251960"/>
            <a:ext cx="4160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in your field is actually authorized to accept a residual risk, and how is it recorded?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10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 · WRAP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Next Week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828800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2162556"/>
            <a:ext cx="566928" cy="566928"/>
          </a:xfrm>
          <a:prstGeom prst="ellipse">
            <a:avLst/>
          </a:prstGeom>
          <a:solidFill>
            <a:srgbClr val="3E5C8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" y="2304288"/>
            <a:ext cx="283464" cy="2834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1956816"/>
            <a:ext cx="1554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063240" y="1956816"/>
            <a:ext cx="8412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INCOSE Hdbk (risk management); selected risk-management reference material; SEBoK risk articles.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02920" y="3319272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FCEEF1"/>
          </a:solidFill>
          <a:ln w="12700">
            <a:solidFill>
              <a:srgbClr val="CC003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77240" y="3653028"/>
            <a:ext cx="566928" cy="566928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3794760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447288"/>
            <a:ext cx="1554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3063240" y="3447288"/>
            <a:ext cx="8412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PS-3 due.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02920" y="4809744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77240" y="5143500"/>
            <a:ext cx="566928" cy="566928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" y="5285232"/>
            <a:ext cx="283464" cy="28346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08760" y="4937760"/>
            <a:ext cx="1554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week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3063240" y="4937760"/>
            <a:ext cx="8412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 — SE Management: Cost, Schedule &amp; Technical Performance. Work breakdown structures and baselines; earned value management; technical performance measures, TRLs, and design reviews; AI in program analytics.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10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AI-Augmented Systems Engineering — Week 10 — Integrated Risk Management</dc:title>
  <dc:subject>PptxGenJS Presentation</dc:subject>
  <dc:creator>FPGA Professional Association</dc:creator>
  <cp:lastModifiedBy>FPGA Professional Association</cp:lastModifiedBy>
  <cp:revision>1</cp:revision>
  <dcterms:created xsi:type="dcterms:W3CDTF">2026-07-04T02:47:30Z</dcterms:created>
  <dcterms:modified xsi:type="dcterms:W3CDTF">2026-07-04T02:47:30Z</dcterms:modified>
</cp:coreProperties>
</file>