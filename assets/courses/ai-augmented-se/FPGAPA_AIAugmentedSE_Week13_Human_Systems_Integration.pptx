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023360" cy="4023360"/>
          </a:xfrm>
          <a:prstGeom prst="ellipse">
            <a:avLst/>
          </a:prstGeom>
          <a:solidFill>
            <a:srgbClr val="20304F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663440"/>
            <a:ext cx="3108960" cy="3108960"/>
          </a:xfrm>
          <a:prstGeom prst="ellipse">
            <a:avLst/>
          </a:prstGeom>
          <a:solidFill>
            <a:srgbClr val="20304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03120"/>
            <a:ext cx="1554480" cy="1554480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49174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97480" y="192024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  ·  AI-AUGMENTED SYSTEMS ENGINEERING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697480" y="22402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E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OF 15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651760" y="2578608"/>
            <a:ext cx="9052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Human-Systems Integration &amp; the Limits of Automation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697480" y="3977640"/>
            <a:ext cx="4754880" cy="0"/>
          </a:xfrm>
          <a:prstGeom prst="line">
            <a:avLst/>
          </a:prstGeom>
          <a:noFill/>
          <a:ln w="15875">
            <a:solidFill>
              <a:srgbClr val="3E5C8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97480" y="411480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i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HSI; tacit knowledge; a catalog of durably human engineering situations; the deskilling / pipeline risk and its countermeasures.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E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· SESSION PLAN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 &amp; Objectives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37360"/>
            <a:ext cx="5440680" cy="4206240"/>
          </a:xfrm>
          <a:prstGeom prst="roundRect">
            <a:avLst>
              <a:gd name="adj" fmla="val 1957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agenda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2450592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25880" y="2423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HSI: Designing the Human Role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" y="3026664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25880" y="29992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Tacit Dimension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" y="3602736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325880" y="35753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Catalog of Hard Cases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" y="4178808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325880" y="41513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Risk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22960" y="4754880"/>
            <a:ext cx="365760" cy="36576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325880" y="47274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activity &amp; discussion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22960" y="5330952"/>
            <a:ext cx="365760" cy="36576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" y="5330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325880" y="5303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next week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45352" y="1737360"/>
            <a:ext cx="5440680" cy="4206240"/>
          </a:xfrm>
          <a:prstGeom prst="roundRect">
            <a:avLst>
              <a:gd name="adj" fmla="val 1957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519672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session, you can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565392" y="242316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human-systems-integration principles to design, not merely accommodate, the human role.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tacit knowledge (Polanyi) and why it resists capture in any training corpus.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concrete engineering situations where human judgment remains decisive, and why they compound.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deskilling/pipeline risk created when automation removes the work that builds senior judgment.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13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· CONCEPT 1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HSI: Designing the Human Role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Manpower, training, workload, interfaces, and environment are design variables — the human role is engineered, not inherited.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22064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8096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3" name="Text 10"/>
          <p:cNvSpPr/>
          <p:nvPr/>
        </p:nvSpPr>
        <p:spPr>
          <a:xfrm>
            <a:off x="4578096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8096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residual roles created by every Week-4 allocation (supervision, exception handling, authority) are HSI's core workload.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41208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97240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7" name="Text 14"/>
          <p:cNvSpPr/>
          <p:nvPr/>
        </p:nvSpPr>
        <p:spPr>
          <a:xfrm>
            <a:off x="8397240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97240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 no one can staff, train for, or stay alert in is a design defect, whatever the automation's accuracy.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· CONCEPT 2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Tacit Dimension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4892040" cy="4069080"/>
          </a:xfrm>
          <a:prstGeom prst="roundRect">
            <a:avLst>
              <a:gd name="adj" fmla="val 2247"/>
            </a:avLst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22885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834640"/>
            <a:ext cx="4160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Polanyi: we know more than we can tell — expert competence that its holder cannot fully articulate even when asked.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5669280" y="178308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907024" y="200253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3" name="Text 9"/>
          <p:cNvSpPr/>
          <p:nvPr/>
        </p:nvSpPr>
        <p:spPr>
          <a:xfrm>
            <a:off x="590702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37960" y="198424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learning trains on recorded traces; tacit knowledge is precisely the competence that leaves no adequate trace.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669280" y="393192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07024" y="415137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7" name="Text 13"/>
          <p:cNvSpPr/>
          <p:nvPr/>
        </p:nvSpPr>
        <p:spPr>
          <a:xfrm>
            <a:off x="5907024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37960" y="413308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doubly hard for AI: absent from the corpus, and resistant to being put into one deliberately.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13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· CONCEPT 3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Catalog of Hard Cases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Commissioning debug: the design is right, the build is right, the system still misbehaves — the fault lives between the models.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22064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8096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3" name="Text 10"/>
          <p:cNvSpPr/>
          <p:nvPr/>
        </p:nvSpPr>
        <p:spPr>
          <a:xfrm>
            <a:off x="4578096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8096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the requirement is wrong; judging tool output as real or artifact; the decision to ship with residual risk.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41208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97240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7" name="Text 14"/>
          <p:cNvSpPr/>
          <p:nvPr/>
        </p:nvSpPr>
        <p:spPr>
          <a:xfrm>
            <a:off x="8397240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97240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judgment against the report — and the compounding case, where several of these knots arrive tangled together.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· CONCEPT 4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Risk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4892040" cy="4069080"/>
          </a:xfrm>
          <a:prstGeom prst="roundRect">
            <a:avLst>
              <a:gd name="adj" fmla="val 2247"/>
            </a:avLst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22885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834640"/>
            <a:ext cx="4160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 judgment is built by years of the junior work that automation now performs — remove the ladder and the roof still needs climbers.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5669280" y="178308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907024" y="200253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3" name="Text 9"/>
          <p:cNvSpPr/>
          <p:nvPr/>
        </p:nvSpPr>
        <p:spPr>
          <a:xfrm>
            <a:off x="590702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37960" y="198424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systems problem with systems fixes: deliberate apprenticeship, rotation through the field, simulation with consequence.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669280" y="393192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07024" y="415137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7" name="Text 13"/>
          <p:cNvSpPr/>
          <p:nvPr/>
        </p:nvSpPr>
        <p:spPr>
          <a:xfrm>
            <a:off x="5907024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37960" y="413308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that harvest automation's savings without funding judgment's replacement are consuming their seed corn.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13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· THE AI LENS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AI Enters This Week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74520"/>
            <a:ext cx="3544824" cy="365760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30552"/>
            <a:ext cx="566928" cy="566928"/>
          </a:xfrm>
          <a:prstGeom prst="ellipse">
            <a:avLst/>
          </a:prstGeom>
          <a:solidFill>
            <a:srgbClr val="3E5C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2272284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8952" y="2807208"/>
            <a:ext cx="303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 Tool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58952" y="3246120"/>
            <a:ext cx="303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support, guided troubleshooting, and training simulators — augmenting the human role HSI designs.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22064" y="1874520"/>
            <a:ext cx="3544824" cy="3657600"/>
          </a:xfrm>
          <a:prstGeom prst="roundRect">
            <a:avLst>
              <a:gd name="adj" fmla="val 2322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8096" y="2130552"/>
            <a:ext cx="566928" cy="566928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828" y="2272284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8096" y="2807208"/>
            <a:ext cx="303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 Component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578096" y="3246120"/>
            <a:ext cx="303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to the learned component (confidence displays, override paths, handoff design) are HSI deliverables.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141208" y="1874520"/>
            <a:ext cx="3544824" cy="3657600"/>
          </a:xfrm>
          <a:prstGeom prst="roundRect">
            <a:avLst>
              <a:gd name="adj" fmla="val 2322"/>
            </a:avLst>
          </a:prstGeom>
          <a:solidFill>
            <a:srgbClr val="FCEEF1"/>
          </a:solidFill>
          <a:ln w="13970">
            <a:solidFill>
              <a:srgbClr val="CC0035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97240" y="2130552"/>
            <a:ext cx="566928" cy="566928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8972" y="2272284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97240" y="2807208"/>
            <a:ext cx="303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Human Residual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397240" y="3246120"/>
            <a:ext cx="303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the catalog — and mentoring the next cohort so the catalog has future authors.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02920" y="58064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question, every week: which mode is this — and what human role does it leave behind?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13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· APPLICATIONS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the Disciplines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2880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0312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5856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10312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554480" y="252374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line commissioning: the veteran hears the wrong rhythm before any sensor flags it.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77356" y="182880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33388" y="210312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836" y="2258568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28916" y="210312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Civil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7328916" y="252374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soil doesn't match the report — the field engineer's call is the project's real foundation.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" y="406908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58952" y="434340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98848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434340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Biomedical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1554480" y="476402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override: the path around the algorithm is a designed feature, not an admission of failure.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277356" y="406908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533388" y="434340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836" y="4498848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28916" y="434340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Aerospace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7328916" y="476402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feedback: what the test pilot felt but the telemetry didn't show still changes the design.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13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· STUDIO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In-Class Activity &amp; Discussion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5577840" cy="4114800"/>
          </a:xfrm>
          <a:prstGeom prst="roundRect">
            <a:avLst>
              <a:gd name="adj" fmla="val 2000"/>
            </a:avLst>
          </a:prstGeom>
          <a:solidFill>
            <a:srgbClr val="FCEEF1"/>
          </a:solidFill>
          <a:ln w="13970">
            <a:solidFill>
              <a:srgbClr val="CC0035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039112"/>
            <a:ext cx="603504" cy="603504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" y="2189988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11226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Studio activity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22960" y="2834640"/>
            <a:ext cx="49377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Hard-case clinic: each team brings one real story where human judgment caught what process and tooling missed; classify it against the catalog and identify what made the judgment possible.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355080" y="1783080"/>
            <a:ext cx="5330952" cy="411480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629400" y="2039112"/>
            <a:ext cx="603504" cy="603504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276" y="2189988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60920" y="211226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Seminar discussion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675120" y="2880360"/>
            <a:ext cx="420624" cy="420624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7" name="Text 12"/>
          <p:cNvSpPr/>
          <p:nvPr/>
        </p:nvSpPr>
        <p:spPr>
          <a:xfrm>
            <a:off x="667512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7251192" y="2834640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junior work built your own judgment — and does it still exist for the next cohort?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675120" y="4297680"/>
            <a:ext cx="420624" cy="420624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20" name="Text 15"/>
          <p:cNvSpPr/>
          <p:nvPr/>
        </p:nvSpPr>
        <p:spPr>
          <a:xfrm>
            <a:off x="667512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251192" y="4251960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hard case in the catalog will your project most likely meet, and who on the team is ready for it?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13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· WRAP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Next Week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2880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162556"/>
            <a:ext cx="566928" cy="566928"/>
          </a:xfrm>
          <a:prstGeom prst="ellipse">
            <a:avLst/>
          </a:prstGeom>
          <a:solidFill>
            <a:srgbClr val="3E5C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" y="2304288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1956816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063240" y="1956816"/>
            <a:ext cx="8412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Polanyi, The Tacit Dimension (selected); course notes on the durable human contribution; HSI references.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3319272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CEEF1"/>
          </a:solidFill>
          <a:ln w="12700">
            <a:solidFill>
              <a:srgbClr val="CC003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3653028"/>
            <a:ext cx="566928" cy="566928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3794760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447288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063240" y="3447288"/>
            <a:ext cx="8412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reflection #3.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" y="4809744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77240" y="5143500"/>
            <a:ext cx="566928" cy="566928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5285232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4937760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3063240" y="4937760"/>
            <a:ext cx="8412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— Systems Integration &amp; Test; Agentic Futures. Integration strategy and interface management; agentic AI workflows and their systems-engineering implications; the limits that persist.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13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AI-Augmented Systems Engineering — Week 13 — Human-Systems Integration &amp; the Limits of Automation</dc:title>
  <dc:subject>PptxGenJS Presentation</dc:subject>
  <dc:creator>FPGA Professional Association</dc:creator>
  <cp:lastModifiedBy>FPGA Professional Association</cp:lastModifiedBy>
  <cp:revision>1</cp:revision>
  <dcterms:created xsi:type="dcterms:W3CDTF">2026-07-04T02:47:30Z</dcterms:created>
  <dcterms:modified xsi:type="dcterms:W3CDTF">2026-07-04T02:47:30Z</dcterms:modified>
</cp:coreProperties>
</file>